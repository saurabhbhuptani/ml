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6" r:id="rId13"/>
    <p:sldId id="267" r:id="rId14"/>
    <p:sldId id="268" r:id="rId15"/>
    <p:sldId id="269" r:id="rId16"/>
    <p:sldId id="270" r:id="rId17"/>
    <p:sldId id="271" r:id="rId18"/>
    <p:sldId id="272" r:id="rId19"/>
    <p:sldId id="273" r:id="rId20"/>
  </p:sldIdLst>
  <p:sldSz cx="14630400" cy="8229600"/>
  <p:notesSz cx="8229600" cy="14630400"/>
  <p:embeddedFontLst>
    <p:embeddedFont>
      <p:font typeface="Patrick Hand" panose="00000500000000000000" pitchFamily="34" charset="0"/>
      <p:regular r:id="rId24"/>
    </p:embeddedFont>
    <p:embeddedFont>
      <p:font typeface="Patrick Hand" panose="00000500000000000000" pitchFamily="34" charset="-122"/>
      <p:regular r:id="rId25"/>
    </p:embeddedFont>
    <p:embeddedFont>
      <p:font typeface="Patrick Hand" panose="00000500000000000000" pitchFamily="34" charset="-120"/>
      <p:regular r:id="rId26"/>
    </p:embeddedFont>
    <p:embeddedFont>
      <p:font typeface="Calibri" panose="020F0502020204030204" charset="0"/>
      <p:regular r:id="rId27"/>
      <p:bold r:id="rId28"/>
      <p:italic r:id="rId29"/>
      <p:boldItalic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6F6"/>
    <a:srgbClr val="EFEFE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p:spPr>
      </p:sp>
      <p:sp>
        <p:nvSpPr>
          <p:cNvPr id="3" name="Shape 1"/>
          <p:cNvSpPr/>
          <p:nvPr/>
        </p:nvSpPr>
        <p:spPr>
          <a:xfrm>
            <a:off x="0" y="0"/>
            <a:ext cx="14630400" cy="8229600"/>
          </a:xfrm>
          <a:prstGeom prst="rect">
            <a:avLst/>
          </a:prstGeom>
          <a:solidFill>
            <a:srgbClr val="F7F7F7"/>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3.xml"/><Relationship Id="rId14" Type="http://schemas.openxmlformats.org/officeDocument/2006/relationships/slideLayout" Target="../slideLayouts/slideLayout4.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6.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0" Type="http://schemas.openxmlformats.org/officeDocument/2006/relationships/notesSlide" Target="../notesSlides/notesSlide7.xml"/><Relationship Id="rId2" Type="http://schemas.openxmlformats.org/officeDocument/2006/relationships/tags" Target="../tags/tag13.xml"/><Relationship Id="rId19" Type="http://schemas.openxmlformats.org/officeDocument/2006/relationships/slideLayout" Target="../slideLayouts/slideLayout8.xml"/><Relationship Id="rId18" Type="http://schemas.openxmlformats.org/officeDocument/2006/relationships/image" Target="../media/image11.png"/><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13.GI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14.GIF"/></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8.xml"/><Relationship Id="rId4" Type="http://schemas.openxmlformats.org/officeDocument/2006/relationships/image" Target="../media/image21.GIF"/><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image" Target="../media/image22.GI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452473" y="2421017"/>
            <a:ext cx="7211854" cy="1207532"/>
          </a:xfrm>
          <a:prstGeom prst="rect">
            <a:avLst/>
          </a:prstGeom>
          <a:noFill/>
        </p:spPr>
        <p:txBody>
          <a:bodyPr wrap="square" lIns="0" tIns="0" rIns="0" bIns="0" rtlCol="0" anchor="t"/>
          <a:lstStyle/>
          <a:p>
            <a:pPr marL="0" indent="0" algn="l">
              <a:lnSpc>
                <a:spcPts val="4750"/>
              </a:lnSpc>
              <a:buNone/>
            </a:pPr>
            <a:r>
              <a:rPr lang="en-US" sz="38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Music Instrument Recognition using Machine Learning</a:t>
            </a:r>
            <a:endParaRPr lang="en-US" sz="3800" dirty="0"/>
          </a:p>
        </p:txBody>
      </p:sp>
      <p:sp>
        <p:nvSpPr>
          <p:cNvPr id="4" name="Text 1"/>
          <p:cNvSpPr/>
          <p:nvPr/>
        </p:nvSpPr>
        <p:spPr>
          <a:xfrm>
            <a:off x="6452473" y="3990856"/>
            <a:ext cx="7211854" cy="386477"/>
          </a:xfrm>
          <a:prstGeom prst="rect">
            <a:avLst/>
          </a:prstGeom>
          <a:noFill/>
        </p:spPr>
        <p:txBody>
          <a:bodyPr wrap="none" lIns="0" tIns="0" rIns="0" bIns="0" rtlCol="0" anchor="t"/>
          <a:lstStyle/>
          <a:p>
            <a:pPr marL="0" indent="0" algn="l">
              <a:lnSpc>
                <a:spcPts val="3000"/>
              </a:lnSpc>
              <a:buNone/>
            </a:pPr>
            <a:r>
              <a:rPr lang="en-US" sz="19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From Raw Sound to Smart Prediction</a:t>
            </a:r>
            <a:endParaRPr lang="en-US" sz="1900" dirty="0"/>
          </a:p>
        </p:txBody>
      </p:sp>
      <p:sp>
        <p:nvSpPr>
          <p:cNvPr id="5" name="Text 2"/>
          <p:cNvSpPr/>
          <p:nvPr/>
        </p:nvSpPr>
        <p:spPr>
          <a:xfrm>
            <a:off x="6452473" y="4649033"/>
            <a:ext cx="7211854" cy="1159431"/>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Can a computer hear music the way humans do? Can it identify whether a sound is from a guitar, flute, or piano? This project explores a powerful question: Can machines understand sound?</a:t>
            </a:r>
            <a:endParaRPr lang="en-US" sz="1900" dirty="0"/>
          </a:p>
        </p:txBody>
      </p:sp>
      <p:sp>
        <p:nvSpPr>
          <p:cNvPr id="6" name="Rectangles 5"/>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6073" y="1639253"/>
            <a:ext cx="4830723" cy="603766"/>
          </a:xfrm>
          <a:prstGeom prst="rect">
            <a:avLst/>
          </a:prstGeom>
          <a:noFill/>
        </p:spPr>
        <p:txBody>
          <a:bodyPr wrap="none" lIns="0" tIns="0" rIns="0" bIns="0" rtlCol="0" anchor="t"/>
          <a:lstStyle/>
          <a:p>
            <a:pPr marL="0" indent="0" algn="l">
              <a:lnSpc>
                <a:spcPts val="4750"/>
              </a:lnSpc>
              <a:buNone/>
            </a:pPr>
            <a:r>
              <a:rPr lang="en-US" sz="38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 Core Challenge</a:t>
            </a:r>
            <a:endParaRPr lang="en-US" sz="3800" dirty="0"/>
          </a:p>
        </p:txBody>
      </p:sp>
      <p:sp>
        <p:nvSpPr>
          <p:cNvPr id="3" name="Text 1"/>
          <p:cNvSpPr/>
          <p:nvPr/>
        </p:nvSpPr>
        <p:spPr>
          <a:xfrm>
            <a:off x="966073" y="2846784"/>
            <a:ext cx="2898458" cy="362188"/>
          </a:xfrm>
          <a:prstGeom prst="rect">
            <a:avLst/>
          </a:prstGeom>
          <a:noFill/>
        </p:spPr>
        <p:txBody>
          <a:bodyPr wrap="none" lIns="0" tIns="0" rIns="0" bIns="0" rtlCol="0" anchor="t"/>
          <a:lstStyle/>
          <a:p>
            <a:pPr marL="0" indent="0" algn="l">
              <a:lnSpc>
                <a:spcPts val="2850"/>
              </a:lnSpc>
              <a:buNone/>
            </a:pPr>
            <a:r>
              <a:rPr lang="en-US" sz="22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What Humans Experience</a:t>
            </a:r>
            <a:endParaRPr lang="en-US" sz="2250" dirty="0"/>
          </a:p>
        </p:txBody>
      </p:sp>
      <p:sp>
        <p:nvSpPr>
          <p:cNvPr id="4" name="Text 2"/>
          <p:cNvSpPr/>
          <p:nvPr/>
        </p:nvSpPr>
        <p:spPr>
          <a:xfrm>
            <a:off x="966073" y="3450431"/>
            <a:ext cx="6054566" cy="1545908"/>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When we listen to music, our brains instantly recognize instruments. We perceive pitch, tone, timbre, and texture without conscious effort. A few notes are enough to distinguish a guitar from a piano or a flute from a trumpet.</a:t>
            </a:r>
            <a:endParaRPr lang="en-US" sz="1900" dirty="0"/>
          </a:p>
        </p:txBody>
      </p:sp>
      <p:sp>
        <p:nvSpPr>
          <p:cNvPr id="5" name="Text 3"/>
          <p:cNvSpPr/>
          <p:nvPr/>
        </p:nvSpPr>
        <p:spPr>
          <a:xfrm>
            <a:off x="966073" y="5213628"/>
            <a:ext cx="6054566" cy="1159431"/>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This recognition happens naturally because our auditory system has evolved to process complex sound patterns and extract meaningful information effortlessly.</a:t>
            </a:r>
            <a:endParaRPr lang="en-US" sz="1900" dirty="0"/>
          </a:p>
        </p:txBody>
      </p:sp>
      <p:sp>
        <p:nvSpPr>
          <p:cNvPr id="6" name="Text 4"/>
          <p:cNvSpPr/>
          <p:nvPr/>
        </p:nvSpPr>
        <p:spPr>
          <a:xfrm>
            <a:off x="7617381" y="2846784"/>
            <a:ext cx="2898458" cy="362188"/>
          </a:xfrm>
          <a:prstGeom prst="rect">
            <a:avLst/>
          </a:prstGeom>
          <a:noFill/>
        </p:spPr>
        <p:txBody>
          <a:bodyPr wrap="none" lIns="0" tIns="0" rIns="0" bIns="0" rtlCol="0" anchor="t"/>
          <a:lstStyle/>
          <a:p>
            <a:pPr marL="0" indent="0" algn="l">
              <a:lnSpc>
                <a:spcPts val="2850"/>
              </a:lnSpc>
              <a:buNone/>
            </a:pPr>
            <a:r>
              <a:rPr lang="en-US" sz="22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What Computers See</a:t>
            </a:r>
            <a:endParaRPr lang="en-US" sz="2250" dirty="0"/>
          </a:p>
        </p:txBody>
      </p:sp>
      <p:sp>
        <p:nvSpPr>
          <p:cNvPr id="7" name="Text 5"/>
          <p:cNvSpPr/>
          <p:nvPr/>
        </p:nvSpPr>
        <p:spPr>
          <a:xfrm>
            <a:off x="7617381" y="3450431"/>
            <a:ext cx="6054566" cy="1159431"/>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Computers perceive sound fundamentally differently. To a machine, audio is just a waveform—a series of amplitude values over time like [0.002, -0.031, 0.045, 0.001...].</a:t>
            </a:r>
            <a:endParaRPr lang="en-US" sz="1900" dirty="0"/>
          </a:p>
        </p:txBody>
      </p:sp>
      <p:sp>
        <p:nvSpPr>
          <p:cNvPr id="8" name="Text 6"/>
          <p:cNvSpPr/>
          <p:nvPr/>
        </p:nvSpPr>
        <p:spPr>
          <a:xfrm>
            <a:off x="7617381" y="4827151"/>
            <a:ext cx="6054566" cy="1545908"/>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There's no inherent meaning, no labels, no emotional context. Without proper processing, these numbers are meaningless. The fundamental problem: How do we teach computers to recognize musical instruments from raw audio signals?</a:t>
            </a:r>
            <a:endParaRPr lang="en-US" sz="1900" dirty="0"/>
          </a:p>
        </p:txBody>
      </p:sp>
      <p:sp>
        <p:nvSpPr>
          <p:cNvPr id="9" name="Rectangles 8"/>
          <p:cNvSpPr/>
          <p:nvPr/>
        </p:nvSpPr>
        <p:spPr>
          <a:xfrm>
            <a:off x="12802235"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68020" y="629841"/>
            <a:ext cx="2908459" cy="363498"/>
          </a:xfrm>
          <a:prstGeom prst="rect">
            <a:avLst/>
          </a:prstGeom>
          <a:noFill/>
        </p:spPr>
        <p:txBody>
          <a:bodyPr wrap="none" lIns="0" tIns="0" rIns="0" bIns="0" rtlCol="0" anchor="t"/>
          <a:lstStyle/>
          <a:p>
            <a:pPr marL="0" indent="0" algn="l">
              <a:lnSpc>
                <a:spcPts val="2850"/>
              </a:lnSpc>
              <a:buNone/>
            </a:pPr>
            <a:r>
              <a:rPr lang="en-US" sz="22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Why This Matters</a:t>
            </a:r>
            <a:endParaRPr lang="en-US" sz="2250" dirty="0"/>
          </a:p>
        </p:txBody>
      </p:sp>
      <p:sp>
        <p:nvSpPr>
          <p:cNvPr id="4" name="Shape 1"/>
          <p:cNvSpPr/>
          <p:nvPr>
            <p:custDataLst>
              <p:tags r:id="rId2"/>
            </p:custDataLst>
          </p:nvPr>
        </p:nvSpPr>
        <p:spPr>
          <a:xfrm>
            <a:off x="6068020" y="1211461"/>
            <a:ext cx="7980759" cy="1388983"/>
          </a:xfrm>
          <a:prstGeom prst="roundRect">
            <a:avLst>
              <a:gd name="adj" fmla="val 4397"/>
            </a:avLst>
          </a:prstGeom>
          <a:solidFill>
            <a:srgbClr val="E6E6E6"/>
          </a:solidFill>
          <a:ln w="7620">
            <a:solidFill>
              <a:srgbClr val="CCCCCC"/>
            </a:solidFill>
            <a:prstDash val="solid"/>
          </a:ln>
        </p:spPr>
      </p:sp>
      <p:sp>
        <p:nvSpPr>
          <p:cNvPr id="7" name="Text 3"/>
          <p:cNvSpPr/>
          <p:nvPr>
            <p:custDataLst>
              <p:tags r:id="rId3"/>
            </p:custDataLst>
          </p:nvPr>
        </p:nvSpPr>
        <p:spPr>
          <a:xfrm>
            <a:off x="6181725" y="1440180"/>
            <a:ext cx="1493520" cy="361315"/>
          </a:xfrm>
          <a:prstGeom prst="rect">
            <a:avLst/>
          </a:prstGeom>
          <a:noFill/>
        </p:spPr>
        <p:txBody>
          <a:bodyPr wrap="none" lIns="0" tIns="0" rIns="0" bIns="0" rtlCol="0" anchor="t"/>
          <a:lstStyle/>
          <a:p>
            <a:pPr marL="0" indent="0" algn="l">
              <a:lnSpc>
                <a:spcPts val="14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Music Streaming</a:t>
            </a:r>
            <a:endParaRPr lang="en-US" sz="1600" dirty="0"/>
          </a:p>
        </p:txBody>
      </p:sp>
      <p:sp>
        <p:nvSpPr>
          <p:cNvPr id="8" name="Text 4"/>
          <p:cNvSpPr/>
          <p:nvPr>
            <p:custDataLst>
              <p:tags r:id="rId4"/>
            </p:custDataLst>
          </p:nvPr>
        </p:nvSpPr>
        <p:spPr>
          <a:xfrm>
            <a:off x="6185535" y="1859280"/>
            <a:ext cx="7710170" cy="588010"/>
          </a:xfrm>
          <a:prstGeom prst="rect">
            <a:avLst/>
          </a:prstGeom>
          <a:noFill/>
        </p:spPr>
        <p:txBody>
          <a:bodyPr wrap="none" lIns="0" tIns="0" rIns="0" bIns="0" rtlCol="0" anchor="t"/>
          <a:lstStyle/>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Powers intelligent recommendation systems that suggest songs based on</a:t>
            </a:r>
            <a:endPar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instrumental composition and sound characteristics</a:t>
            </a:r>
            <a:endParaRPr lang="en-US" dirty="0"/>
          </a:p>
        </p:txBody>
      </p:sp>
      <p:sp>
        <p:nvSpPr>
          <p:cNvPr id="9" name="Shape 5"/>
          <p:cNvSpPr/>
          <p:nvPr>
            <p:custDataLst>
              <p:tags r:id="rId5"/>
            </p:custDataLst>
          </p:nvPr>
        </p:nvSpPr>
        <p:spPr>
          <a:xfrm>
            <a:off x="6068020" y="2745819"/>
            <a:ext cx="7980759" cy="1388983"/>
          </a:xfrm>
          <a:prstGeom prst="roundRect">
            <a:avLst>
              <a:gd name="adj" fmla="val 4397"/>
            </a:avLst>
          </a:prstGeom>
          <a:solidFill>
            <a:srgbClr val="E6E6E6"/>
          </a:solidFill>
          <a:ln w="7620">
            <a:solidFill>
              <a:srgbClr val="CCCCCC"/>
            </a:solidFill>
            <a:prstDash val="solid"/>
          </a:ln>
        </p:spPr>
      </p:sp>
      <p:sp>
        <p:nvSpPr>
          <p:cNvPr id="12" name="Text 7"/>
          <p:cNvSpPr/>
          <p:nvPr>
            <p:custDataLst>
              <p:tags r:id="rId6"/>
            </p:custDataLst>
          </p:nvPr>
        </p:nvSpPr>
        <p:spPr>
          <a:xfrm>
            <a:off x="6185535" y="2848610"/>
            <a:ext cx="1489710" cy="813435"/>
          </a:xfrm>
          <a:prstGeom prst="rect">
            <a:avLst/>
          </a:prstGeom>
          <a:noFill/>
        </p:spPr>
        <p:txBody>
          <a:bodyPr wrap="none" lIns="0" tIns="0" rIns="0" bIns="0" rtlCol="0" anchor="t"/>
          <a:lstStyle/>
          <a:p>
            <a:pPr marL="0" indent="0" algn="l">
              <a:lnSpc>
                <a:spcPts val="14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Auto-Tagging</a:t>
            </a:r>
            <a:endParaRPr lang="en-US" sz="1600" dirty="0"/>
          </a:p>
        </p:txBody>
      </p:sp>
      <p:sp>
        <p:nvSpPr>
          <p:cNvPr id="13" name="Text 8"/>
          <p:cNvSpPr/>
          <p:nvPr>
            <p:custDataLst>
              <p:tags r:id="rId7"/>
            </p:custDataLst>
          </p:nvPr>
        </p:nvSpPr>
        <p:spPr>
          <a:xfrm>
            <a:off x="6184900" y="3187065"/>
            <a:ext cx="7710805" cy="794385"/>
          </a:xfrm>
          <a:prstGeom prst="rect">
            <a:avLst/>
          </a:prstGeom>
          <a:noFill/>
        </p:spPr>
        <p:txBody>
          <a:bodyPr wrap="none" lIns="0" tIns="0" rIns="0" bIns="0" rtlCol="0" anchor="t"/>
          <a:lstStyle/>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Automatically categorizes and labels massive music libraries, </a:t>
            </a:r>
            <a:endPar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making content searchable and organized</a:t>
            </a:r>
            <a:endParaRPr lang="en-US" dirty="0"/>
          </a:p>
        </p:txBody>
      </p:sp>
      <p:sp>
        <p:nvSpPr>
          <p:cNvPr id="14" name="Shape 9"/>
          <p:cNvSpPr/>
          <p:nvPr>
            <p:custDataLst>
              <p:tags r:id="rId8"/>
            </p:custDataLst>
          </p:nvPr>
        </p:nvSpPr>
        <p:spPr>
          <a:xfrm>
            <a:off x="6068020" y="4280178"/>
            <a:ext cx="7980759" cy="1388983"/>
          </a:xfrm>
          <a:prstGeom prst="roundRect">
            <a:avLst>
              <a:gd name="adj" fmla="val 4397"/>
            </a:avLst>
          </a:prstGeom>
          <a:solidFill>
            <a:srgbClr val="E6E6E6"/>
          </a:solidFill>
          <a:ln w="7620">
            <a:solidFill>
              <a:srgbClr val="CCCCCC"/>
            </a:solidFill>
            <a:prstDash val="solid"/>
          </a:ln>
        </p:spPr>
      </p:sp>
      <p:sp>
        <p:nvSpPr>
          <p:cNvPr id="17" name="Text 11"/>
          <p:cNvSpPr/>
          <p:nvPr>
            <p:custDataLst>
              <p:tags r:id="rId9"/>
            </p:custDataLst>
          </p:nvPr>
        </p:nvSpPr>
        <p:spPr>
          <a:xfrm>
            <a:off x="6181725" y="4353560"/>
            <a:ext cx="1493520" cy="842645"/>
          </a:xfrm>
          <a:prstGeom prst="rect">
            <a:avLst/>
          </a:prstGeom>
          <a:noFill/>
        </p:spPr>
        <p:txBody>
          <a:bodyPr wrap="none" lIns="0" tIns="0" rIns="0" bIns="0" rtlCol="0" anchor="t"/>
          <a:lstStyle/>
          <a:p>
            <a:pPr marL="0" indent="0" algn="l">
              <a:lnSpc>
                <a:spcPts val="14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Media Production</a:t>
            </a:r>
            <a:endParaRPr lang="en-US" sz="1600" dirty="0"/>
          </a:p>
        </p:txBody>
      </p:sp>
      <p:sp>
        <p:nvSpPr>
          <p:cNvPr id="18" name="Text 12"/>
          <p:cNvSpPr/>
          <p:nvPr>
            <p:custDataLst>
              <p:tags r:id="rId10"/>
            </p:custDataLst>
          </p:nvPr>
        </p:nvSpPr>
        <p:spPr>
          <a:xfrm>
            <a:off x="6198235" y="4721225"/>
            <a:ext cx="7697470" cy="795020"/>
          </a:xfrm>
          <a:prstGeom prst="rect">
            <a:avLst/>
          </a:prstGeom>
          <a:noFill/>
        </p:spPr>
        <p:txBody>
          <a:bodyPr wrap="none" lIns="0" tIns="0" rIns="0" bIns="0" rtlCol="0" anchor="t"/>
          <a:lstStyle/>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Assists film and game developers in analyzing </a:t>
            </a:r>
            <a:endPar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and selecting appropriate sound elements for their projects</a:t>
            </a:r>
            <a:endParaRPr lang="en-US" dirty="0"/>
          </a:p>
        </p:txBody>
      </p:sp>
      <p:sp>
        <p:nvSpPr>
          <p:cNvPr id="19" name="Shape 13"/>
          <p:cNvSpPr/>
          <p:nvPr>
            <p:custDataLst>
              <p:tags r:id="rId11"/>
            </p:custDataLst>
          </p:nvPr>
        </p:nvSpPr>
        <p:spPr>
          <a:xfrm>
            <a:off x="6068020" y="5814536"/>
            <a:ext cx="7980759" cy="1388983"/>
          </a:xfrm>
          <a:prstGeom prst="roundRect">
            <a:avLst>
              <a:gd name="adj" fmla="val 4397"/>
            </a:avLst>
          </a:prstGeom>
          <a:solidFill>
            <a:srgbClr val="E6E6E6"/>
          </a:solidFill>
          <a:ln w="7620">
            <a:solidFill>
              <a:srgbClr val="CCCCCC"/>
            </a:solidFill>
            <a:prstDash val="solid"/>
          </a:ln>
        </p:spPr>
      </p:sp>
      <p:sp>
        <p:nvSpPr>
          <p:cNvPr id="22" name="Text 15"/>
          <p:cNvSpPr/>
          <p:nvPr>
            <p:custDataLst>
              <p:tags r:id="rId12"/>
            </p:custDataLst>
          </p:nvPr>
        </p:nvSpPr>
        <p:spPr>
          <a:xfrm>
            <a:off x="6185535" y="5968365"/>
            <a:ext cx="1489710" cy="762635"/>
          </a:xfrm>
          <a:prstGeom prst="rect">
            <a:avLst/>
          </a:prstGeom>
          <a:noFill/>
        </p:spPr>
        <p:txBody>
          <a:bodyPr wrap="none" lIns="0" tIns="0" rIns="0" bIns="0" rtlCol="0" anchor="t"/>
          <a:lstStyle/>
          <a:p>
            <a:pPr marL="0" indent="0" algn="l">
              <a:lnSpc>
                <a:spcPts val="14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Music Analysis</a:t>
            </a:r>
            <a:endParaRPr lang="en-US" sz="1600" dirty="0"/>
          </a:p>
        </p:txBody>
      </p:sp>
      <p:sp>
        <p:nvSpPr>
          <p:cNvPr id="23" name="Text 16"/>
          <p:cNvSpPr/>
          <p:nvPr>
            <p:custDataLst>
              <p:tags r:id="rId13"/>
            </p:custDataLst>
          </p:nvPr>
        </p:nvSpPr>
        <p:spPr>
          <a:xfrm>
            <a:off x="6182360" y="6226810"/>
            <a:ext cx="7713345" cy="823595"/>
          </a:xfrm>
          <a:prstGeom prst="rect">
            <a:avLst/>
          </a:prstGeom>
          <a:noFill/>
        </p:spPr>
        <p:txBody>
          <a:bodyPr wrap="none" lIns="0" tIns="0" rIns="0" bIns="0" rtlCol="0" anchor="t"/>
          <a:lstStyle/>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Enables digital audio workstations to provide intelligent mixing suggestions </a:t>
            </a:r>
            <a:endPar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180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and instrument-specific effects</a:t>
            </a:r>
            <a:endParaRPr lang="en-US" dirty="0"/>
          </a:p>
        </p:txBody>
      </p:sp>
      <p:sp>
        <p:nvSpPr>
          <p:cNvPr id="24" name="Text 17"/>
          <p:cNvSpPr/>
          <p:nvPr/>
        </p:nvSpPr>
        <p:spPr>
          <a:xfrm>
            <a:off x="6068020" y="7367111"/>
            <a:ext cx="7980759" cy="232529"/>
          </a:xfrm>
          <a:prstGeom prst="rect">
            <a:avLst/>
          </a:prstGeom>
          <a:noFill/>
        </p:spPr>
        <p:txBody>
          <a:bodyPr wrap="none" lIns="0" tIns="0" rIns="0" bIns="0" rtlCol="0" anchor="t"/>
          <a:lstStyle/>
          <a:p>
            <a:pPr marL="0" indent="0" algn="l">
              <a:lnSpc>
                <a:spcPts val="1800"/>
              </a:lnSpc>
              <a:buNone/>
            </a:pPr>
            <a:endParaRPr lang="en-US" sz="1100" dirty="0"/>
          </a:p>
        </p:txBody>
      </p:sp>
      <p:sp>
        <p:nvSpPr>
          <p:cNvPr id="25" name="Rectangles 24"/>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4149" y="567333"/>
            <a:ext cx="4071223" cy="508754"/>
          </a:xfrm>
          <a:prstGeom prst="rect">
            <a:avLst/>
          </a:prstGeom>
          <a:noFill/>
        </p:spPr>
        <p:txBody>
          <a:bodyPr wrap="none" lIns="0" tIns="0" rIns="0" bIns="0" rtlCol="0" anchor="t"/>
          <a:lstStyle/>
          <a:p>
            <a:pPr marL="0" indent="0" algn="l">
              <a:lnSpc>
                <a:spcPts val="4000"/>
              </a:lnSpc>
              <a:buNone/>
            </a:pPr>
            <a:r>
              <a:rPr lang="en-US" sz="32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Our Dataset</a:t>
            </a:r>
            <a:endParaRPr lang="en-US" sz="3200" dirty="0"/>
          </a:p>
        </p:txBody>
      </p:sp>
      <p:sp>
        <p:nvSpPr>
          <p:cNvPr id="4" name="Text 1"/>
          <p:cNvSpPr/>
          <p:nvPr/>
        </p:nvSpPr>
        <p:spPr>
          <a:xfrm>
            <a:off x="6221135" y="1584841"/>
            <a:ext cx="2924532" cy="305395"/>
          </a:xfrm>
          <a:prstGeom prst="rect">
            <a:avLst/>
          </a:prstGeom>
          <a:noFill/>
        </p:spPr>
        <p:txBody>
          <a:bodyPr wrap="none" lIns="0" tIns="0" rIns="0" bIns="0" rtlCol="0" anchor="t"/>
          <a:lstStyle/>
          <a:p>
            <a:pPr marL="0" indent="0" algn="l">
              <a:lnSpc>
                <a:spcPts val="2400"/>
              </a:lnSpc>
              <a:buNone/>
            </a:pPr>
            <a:r>
              <a:rPr lang="en-US" sz="3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Music Instrument Sounds Dataset</a:t>
            </a:r>
            <a:endParaRPr lang="en-US" sz="3600" dirty="0"/>
          </a:p>
        </p:txBody>
      </p:sp>
      <p:sp>
        <p:nvSpPr>
          <p:cNvPr id="5" name="Text 2"/>
          <p:cNvSpPr/>
          <p:nvPr/>
        </p:nvSpPr>
        <p:spPr>
          <a:xfrm>
            <a:off x="6221135" y="2093714"/>
            <a:ext cx="7602617" cy="977265"/>
          </a:xfrm>
          <a:prstGeom prst="rect">
            <a:avLst/>
          </a:prstGeom>
          <a:noFill/>
        </p:spPr>
        <p:txBody>
          <a:bodyPr wrap="square" lIns="0" tIns="0" rIns="0" bIns="0" rtlCol="0" anchor="t"/>
          <a:lstStyle/>
          <a:p>
            <a:pPr marL="0" indent="0" algn="l">
              <a:lnSpc>
                <a:spcPts val="2550"/>
              </a:lnSpc>
              <a:buNone/>
            </a:pP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We used a comprehensive dataset from Kaggle containing audio recordings of </a:t>
            </a:r>
            <a:r>
              <a:rPr lang="en-US" sz="20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28 different musical instruments</a:t>
            </a: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Each audio clip is approximately 3 seconds long, providing just enough sound to capture each instrument's distinctive characteristics.</a:t>
            </a:r>
            <a:endParaRPr lang="en-US" sz="2000" dirty="0"/>
          </a:p>
        </p:txBody>
      </p:sp>
      <p:sp>
        <p:nvSpPr>
          <p:cNvPr id="6" name="Text 3"/>
          <p:cNvSpPr/>
          <p:nvPr/>
        </p:nvSpPr>
        <p:spPr>
          <a:xfrm>
            <a:off x="6221135" y="3497302"/>
            <a:ext cx="7602617" cy="977265"/>
          </a:xfrm>
          <a:prstGeom prst="rect">
            <a:avLst/>
          </a:prstGeom>
          <a:noFill/>
        </p:spPr>
        <p:txBody>
          <a:bodyPr wrap="square" lIns="0" tIns="0" rIns="0" bIns="0" rtlCol="0" anchor="t"/>
          <a:lstStyle/>
          <a:p>
            <a:pPr marL="0" indent="0" algn="l">
              <a:lnSpc>
                <a:spcPts val="2550"/>
              </a:lnSpc>
              <a:buNone/>
            </a:pP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 dataset is organized into folders, where each folder represents one instrument class—Guitar, Piano, Violin, Flute, Trumpet, Drums, and more. Importantly, each audio file contains </a:t>
            </a:r>
            <a:r>
              <a:rPr lang="en-US" sz="20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only one instrument</a:t>
            </a: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making it ideal for supervised learning.</a:t>
            </a:r>
            <a:endParaRPr lang="en-US" sz="2000" dirty="0"/>
          </a:p>
        </p:txBody>
      </p:sp>
      <p:sp>
        <p:nvSpPr>
          <p:cNvPr id="7" name="Text 4"/>
          <p:cNvSpPr/>
          <p:nvPr/>
        </p:nvSpPr>
        <p:spPr>
          <a:xfrm>
            <a:off x="814149" y="4808220"/>
            <a:ext cx="203478" cy="25443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Light" pitchFamily="34" charset="0"/>
                <a:ea typeface="Patrick Hand Light" pitchFamily="34" charset="-122"/>
                <a:cs typeface="Patrick Hand Light" pitchFamily="34" charset="-120"/>
              </a:rPr>
              <a:t>01</a:t>
            </a:r>
            <a:endParaRPr lang="en-US" sz="1600" dirty="0"/>
          </a:p>
        </p:txBody>
      </p:sp>
      <p:sp>
        <p:nvSpPr>
          <p:cNvPr id="8" name="Shape 5"/>
          <p:cNvSpPr/>
          <p:nvPr/>
        </p:nvSpPr>
        <p:spPr>
          <a:xfrm>
            <a:off x="814149" y="5131237"/>
            <a:ext cx="6399252" cy="22860"/>
          </a:xfrm>
          <a:prstGeom prst="rect">
            <a:avLst/>
          </a:prstGeom>
          <a:solidFill>
            <a:srgbClr val="CCCCCC"/>
          </a:solidFill>
        </p:spPr>
      </p:sp>
      <p:sp>
        <p:nvSpPr>
          <p:cNvPr id="9" name="Text 6"/>
          <p:cNvSpPr/>
          <p:nvPr/>
        </p:nvSpPr>
        <p:spPr>
          <a:xfrm>
            <a:off x="814149" y="5278636"/>
            <a:ext cx="2035612" cy="254437"/>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Organized Structure</a:t>
            </a:r>
            <a:endParaRPr lang="en-US" sz="1600" dirty="0"/>
          </a:p>
        </p:txBody>
      </p:sp>
      <p:sp>
        <p:nvSpPr>
          <p:cNvPr id="10" name="Text 7"/>
          <p:cNvSpPr/>
          <p:nvPr/>
        </p:nvSpPr>
        <p:spPr>
          <a:xfrm>
            <a:off x="814149" y="5655112"/>
            <a:ext cx="6399252" cy="325755"/>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Folders named by instrument type</a:t>
            </a:r>
            <a:endParaRPr lang="en-US" sz="1600" dirty="0"/>
          </a:p>
        </p:txBody>
      </p:sp>
      <p:sp>
        <p:nvSpPr>
          <p:cNvPr id="11" name="Text 8"/>
          <p:cNvSpPr/>
          <p:nvPr/>
        </p:nvSpPr>
        <p:spPr>
          <a:xfrm>
            <a:off x="7416879" y="4808220"/>
            <a:ext cx="203478" cy="25443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Light" pitchFamily="34" charset="0"/>
                <a:ea typeface="Patrick Hand Light" pitchFamily="34" charset="-122"/>
                <a:cs typeface="Patrick Hand Light" pitchFamily="34" charset="-120"/>
              </a:rPr>
              <a:t>02</a:t>
            </a:r>
            <a:endParaRPr lang="en-US" sz="1600" dirty="0"/>
          </a:p>
        </p:txBody>
      </p:sp>
      <p:sp>
        <p:nvSpPr>
          <p:cNvPr id="12" name="Shape 9"/>
          <p:cNvSpPr/>
          <p:nvPr/>
        </p:nvSpPr>
        <p:spPr>
          <a:xfrm>
            <a:off x="7416879" y="5131237"/>
            <a:ext cx="6399371" cy="22860"/>
          </a:xfrm>
          <a:prstGeom prst="rect">
            <a:avLst/>
          </a:prstGeom>
          <a:solidFill>
            <a:srgbClr val="CCCCCC"/>
          </a:solidFill>
        </p:spPr>
      </p:sp>
      <p:sp>
        <p:nvSpPr>
          <p:cNvPr id="13" name="Text 10"/>
          <p:cNvSpPr/>
          <p:nvPr/>
        </p:nvSpPr>
        <p:spPr>
          <a:xfrm>
            <a:off x="7416879" y="5278636"/>
            <a:ext cx="2035612" cy="254437"/>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Clean Samples</a:t>
            </a:r>
            <a:endParaRPr lang="en-US" sz="1600" dirty="0"/>
          </a:p>
        </p:txBody>
      </p:sp>
      <p:sp>
        <p:nvSpPr>
          <p:cNvPr id="14" name="Text 11"/>
          <p:cNvSpPr/>
          <p:nvPr/>
        </p:nvSpPr>
        <p:spPr>
          <a:xfrm>
            <a:off x="7416879" y="5655112"/>
            <a:ext cx="6399371" cy="325755"/>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3-second isolated instrument recordings</a:t>
            </a:r>
            <a:endParaRPr lang="en-US" sz="1600" dirty="0"/>
          </a:p>
        </p:txBody>
      </p:sp>
      <p:sp>
        <p:nvSpPr>
          <p:cNvPr id="15" name="Text 12"/>
          <p:cNvSpPr/>
          <p:nvPr/>
        </p:nvSpPr>
        <p:spPr>
          <a:xfrm>
            <a:off x="814149" y="6336983"/>
            <a:ext cx="203478" cy="25443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Light" pitchFamily="34" charset="0"/>
                <a:ea typeface="Patrick Hand Light" pitchFamily="34" charset="-122"/>
                <a:cs typeface="Patrick Hand Light" pitchFamily="34" charset="-120"/>
              </a:rPr>
              <a:t>03</a:t>
            </a:r>
            <a:endParaRPr lang="en-US" sz="1600" dirty="0"/>
          </a:p>
        </p:txBody>
      </p:sp>
      <p:sp>
        <p:nvSpPr>
          <p:cNvPr id="16" name="Shape 13"/>
          <p:cNvSpPr/>
          <p:nvPr/>
        </p:nvSpPr>
        <p:spPr>
          <a:xfrm>
            <a:off x="814149" y="6659999"/>
            <a:ext cx="6399252" cy="22860"/>
          </a:xfrm>
          <a:prstGeom prst="rect">
            <a:avLst/>
          </a:prstGeom>
          <a:solidFill>
            <a:srgbClr val="CCCCCC"/>
          </a:solidFill>
        </p:spPr>
      </p:sp>
      <p:sp>
        <p:nvSpPr>
          <p:cNvPr id="17" name="Text 14"/>
          <p:cNvSpPr/>
          <p:nvPr/>
        </p:nvSpPr>
        <p:spPr>
          <a:xfrm>
            <a:off x="814149" y="6807398"/>
            <a:ext cx="2035612" cy="254437"/>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Diverse Coverage</a:t>
            </a:r>
            <a:endParaRPr lang="en-US" sz="1600" dirty="0"/>
          </a:p>
        </p:txBody>
      </p:sp>
      <p:sp>
        <p:nvSpPr>
          <p:cNvPr id="18" name="Text 15"/>
          <p:cNvSpPr/>
          <p:nvPr/>
        </p:nvSpPr>
        <p:spPr>
          <a:xfrm>
            <a:off x="814149" y="7183874"/>
            <a:ext cx="6399252" cy="325755"/>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28 distinct instrument categories</a:t>
            </a:r>
            <a:endParaRPr lang="en-US" sz="1600" dirty="0"/>
          </a:p>
        </p:txBody>
      </p:sp>
      <p:sp>
        <p:nvSpPr>
          <p:cNvPr id="19" name="Text 16"/>
          <p:cNvSpPr/>
          <p:nvPr/>
        </p:nvSpPr>
        <p:spPr>
          <a:xfrm>
            <a:off x="7416879" y="6336983"/>
            <a:ext cx="203478" cy="25443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Light" pitchFamily="34" charset="0"/>
                <a:ea typeface="Patrick Hand Light" pitchFamily="34" charset="-122"/>
                <a:cs typeface="Patrick Hand Light" pitchFamily="34" charset="-120"/>
              </a:rPr>
              <a:t>04</a:t>
            </a:r>
            <a:endParaRPr lang="en-US" sz="1600" dirty="0"/>
          </a:p>
        </p:txBody>
      </p:sp>
      <p:sp>
        <p:nvSpPr>
          <p:cNvPr id="20" name="Shape 17"/>
          <p:cNvSpPr/>
          <p:nvPr/>
        </p:nvSpPr>
        <p:spPr>
          <a:xfrm>
            <a:off x="7416879" y="6659999"/>
            <a:ext cx="6399371" cy="22860"/>
          </a:xfrm>
          <a:prstGeom prst="rect">
            <a:avLst/>
          </a:prstGeom>
          <a:solidFill>
            <a:srgbClr val="CCCCCC"/>
          </a:solidFill>
        </p:spPr>
      </p:sp>
      <p:sp>
        <p:nvSpPr>
          <p:cNvPr id="21" name="Text 18"/>
          <p:cNvSpPr/>
          <p:nvPr/>
        </p:nvSpPr>
        <p:spPr>
          <a:xfrm>
            <a:off x="7416879" y="6807398"/>
            <a:ext cx="2035612" cy="254437"/>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Ready for ML</a:t>
            </a:r>
            <a:endParaRPr lang="en-US" sz="1600" dirty="0"/>
          </a:p>
        </p:txBody>
      </p:sp>
      <p:sp>
        <p:nvSpPr>
          <p:cNvPr id="22" name="Text 19"/>
          <p:cNvSpPr/>
          <p:nvPr/>
        </p:nvSpPr>
        <p:spPr>
          <a:xfrm>
            <a:off x="7416879" y="7183874"/>
            <a:ext cx="6399371" cy="325755"/>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Pre-labeled for supervised learning</a:t>
            </a:r>
            <a:endParaRPr lang="en-US" sz="1600" dirty="0"/>
          </a:p>
        </p:txBody>
      </p:sp>
      <p:sp>
        <p:nvSpPr>
          <p:cNvPr id="23" name="Rectangles 22"/>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4" name="Picture 23" descr="dataset-cover"/>
          <p:cNvPicPr>
            <a:picLocks noChangeAspect="1"/>
          </p:cNvPicPr>
          <p:nvPr/>
        </p:nvPicPr>
        <p:blipFill>
          <a:blip r:embed="rId1"/>
          <a:stretch>
            <a:fillRect/>
          </a:stretch>
        </p:blipFill>
        <p:spPr>
          <a:xfrm>
            <a:off x="814070" y="1584960"/>
            <a:ext cx="5027930" cy="30454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23317" y="728782"/>
            <a:ext cx="4625221" cy="514588"/>
          </a:xfrm>
          <a:prstGeom prst="rect">
            <a:avLst/>
          </a:prstGeom>
          <a:noFill/>
        </p:spPr>
        <p:txBody>
          <a:bodyPr wrap="none" lIns="0" tIns="0" rIns="0" bIns="0" rtlCol="0" anchor="t"/>
          <a:lstStyle/>
          <a:p>
            <a:pPr marL="0" indent="0" algn="l">
              <a:lnSpc>
                <a:spcPts val="4050"/>
              </a:lnSpc>
              <a:buNone/>
            </a:pPr>
            <a:r>
              <a:rPr lang="en-US" sz="32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 Sound-to-Number Problem</a:t>
            </a:r>
            <a:endParaRPr lang="en-US" sz="3200" dirty="0"/>
          </a:p>
        </p:txBody>
      </p:sp>
      <p:pic>
        <p:nvPicPr>
          <p:cNvPr id="4" name="Image 1" descr="preencoded.png"/>
          <p:cNvPicPr>
            <a:picLocks noChangeAspect="1"/>
          </p:cNvPicPr>
          <p:nvPr/>
        </p:nvPicPr>
        <p:blipFill>
          <a:blip r:embed="rId2"/>
          <a:stretch>
            <a:fillRect/>
          </a:stretch>
        </p:blipFill>
        <p:spPr>
          <a:xfrm>
            <a:off x="823317" y="1552099"/>
            <a:ext cx="1029176" cy="1235035"/>
          </a:xfrm>
          <a:prstGeom prst="rect">
            <a:avLst/>
          </a:prstGeom>
        </p:spPr>
      </p:pic>
      <p:sp>
        <p:nvSpPr>
          <p:cNvPr id="5" name="Text 1"/>
          <p:cNvSpPr/>
          <p:nvPr/>
        </p:nvSpPr>
        <p:spPr>
          <a:xfrm>
            <a:off x="2058233" y="1757839"/>
            <a:ext cx="2058472" cy="257294"/>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Raw Audio File</a:t>
            </a:r>
            <a:endParaRPr lang="en-US" sz="1600" dirty="0"/>
          </a:p>
        </p:txBody>
      </p:sp>
      <p:sp>
        <p:nvSpPr>
          <p:cNvPr id="6" name="Text 2"/>
          <p:cNvSpPr/>
          <p:nvPr/>
        </p:nvSpPr>
        <p:spPr>
          <a:xfrm>
            <a:off x="2058233" y="2138601"/>
            <a:ext cx="6262449" cy="32932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 .wav file containing pressure waves captured by microphones</a:t>
            </a:r>
            <a:endParaRPr lang="en-US" sz="1600" dirty="0"/>
          </a:p>
        </p:txBody>
      </p:sp>
      <p:pic>
        <p:nvPicPr>
          <p:cNvPr id="7" name="Image 2" descr="preencoded.png"/>
          <p:cNvPicPr>
            <a:picLocks noChangeAspect="1"/>
          </p:cNvPicPr>
          <p:nvPr/>
        </p:nvPicPr>
        <p:blipFill>
          <a:blip r:embed="rId3"/>
          <a:stretch>
            <a:fillRect/>
          </a:stretch>
        </p:blipFill>
        <p:spPr>
          <a:xfrm>
            <a:off x="823317" y="2787134"/>
            <a:ext cx="1029176" cy="1235035"/>
          </a:xfrm>
          <a:prstGeom prst="rect">
            <a:avLst/>
          </a:prstGeom>
        </p:spPr>
      </p:pic>
      <p:sp>
        <p:nvSpPr>
          <p:cNvPr id="8" name="Text 3"/>
          <p:cNvSpPr/>
          <p:nvPr/>
        </p:nvSpPr>
        <p:spPr>
          <a:xfrm>
            <a:off x="2058233" y="2992874"/>
            <a:ext cx="2058472" cy="257294"/>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Digital Samples</a:t>
            </a:r>
            <a:endParaRPr lang="en-US" sz="1600" dirty="0"/>
          </a:p>
        </p:txBody>
      </p:sp>
      <p:sp>
        <p:nvSpPr>
          <p:cNvPr id="9" name="Text 4"/>
          <p:cNvSpPr/>
          <p:nvPr/>
        </p:nvSpPr>
        <p:spPr>
          <a:xfrm>
            <a:off x="2058233" y="3373636"/>
            <a:ext cx="6262449" cy="32932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Thousands of amplitude measurements per second—just numbers</a:t>
            </a:r>
            <a:endParaRPr lang="en-US" sz="1600" dirty="0"/>
          </a:p>
        </p:txBody>
      </p:sp>
      <p:pic>
        <p:nvPicPr>
          <p:cNvPr id="10" name="Image 3" descr="preencoded.png"/>
          <p:cNvPicPr>
            <a:picLocks noChangeAspect="1"/>
          </p:cNvPicPr>
          <p:nvPr/>
        </p:nvPicPr>
        <p:blipFill>
          <a:blip r:embed="rId4"/>
          <a:stretch>
            <a:fillRect/>
          </a:stretch>
        </p:blipFill>
        <p:spPr>
          <a:xfrm>
            <a:off x="823317" y="4022169"/>
            <a:ext cx="1029176" cy="1235035"/>
          </a:xfrm>
          <a:prstGeom prst="rect">
            <a:avLst/>
          </a:prstGeom>
        </p:spPr>
      </p:pic>
      <p:sp>
        <p:nvSpPr>
          <p:cNvPr id="11" name="Text 5"/>
          <p:cNvSpPr/>
          <p:nvPr/>
        </p:nvSpPr>
        <p:spPr>
          <a:xfrm>
            <a:off x="2058233" y="4227909"/>
            <a:ext cx="2058472" cy="257294"/>
          </a:xfrm>
          <a:prstGeom prst="rect">
            <a:avLst/>
          </a:prstGeom>
          <a:noFill/>
        </p:spPr>
        <p:txBody>
          <a:bodyPr wrap="none" lIns="0" tIns="0" rIns="0" bIns="0" rtlCol="0" anchor="t"/>
          <a:lstStyle/>
          <a:p>
            <a:pPr marL="0" indent="0" algn="l">
              <a:lnSpc>
                <a:spcPts val="200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Machine Learning Input</a:t>
            </a:r>
            <a:endParaRPr lang="en-US" sz="1600" dirty="0"/>
          </a:p>
        </p:txBody>
      </p:sp>
      <p:sp>
        <p:nvSpPr>
          <p:cNvPr id="12" name="Text 6"/>
          <p:cNvSpPr/>
          <p:nvPr/>
        </p:nvSpPr>
        <p:spPr>
          <a:xfrm>
            <a:off x="2058233" y="4608671"/>
            <a:ext cx="6262449" cy="32932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Features that capture meaningful sound characteristics</a:t>
            </a:r>
            <a:endParaRPr lang="en-US" sz="1600" dirty="0"/>
          </a:p>
        </p:txBody>
      </p:sp>
      <p:sp>
        <p:nvSpPr>
          <p:cNvPr id="13" name="Text 7"/>
          <p:cNvSpPr/>
          <p:nvPr/>
        </p:nvSpPr>
        <p:spPr>
          <a:xfrm>
            <a:off x="1132046" y="5720358"/>
            <a:ext cx="7188637" cy="987981"/>
          </a:xfrm>
          <a:prstGeom prst="rect">
            <a:avLst/>
          </a:prstGeom>
          <a:noFill/>
        </p:spPr>
        <p:txBody>
          <a:bodyPr wrap="squar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 biggest challenge in audio machine learning isn't the modeling—it's converting sound into something a machine can meaningfully understand. We need to bridge the gap between acoustic physics and computational learning.</a:t>
            </a:r>
            <a:endParaRPr lang="en-US" sz="1600" dirty="0"/>
          </a:p>
        </p:txBody>
      </p:sp>
      <p:sp>
        <p:nvSpPr>
          <p:cNvPr id="14" name="Shape 8"/>
          <p:cNvSpPr/>
          <p:nvPr/>
        </p:nvSpPr>
        <p:spPr>
          <a:xfrm>
            <a:off x="823317" y="5488781"/>
            <a:ext cx="22860" cy="1451134"/>
          </a:xfrm>
          <a:prstGeom prst="rect">
            <a:avLst/>
          </a:prstGeom>
          <a:solidFill>
            <a:srgbClr val="CCCCCC"/>
          </a:solidFill>
        </p:spPr>
      </p:sp>
      <p:sp>
        <p:nvSpPr>
          <p:cNvPr id="15" name="Text 9"/>
          <p:cNvSpPr/>
          <p:nvPr/>
        </p:nvSpPr>
        <p:spPr>
          <a:xfrm>
            <a:off x="823317" y="7171492"/>
            <a:ext cx="7497366" cy="329327"/>
          </a:xfrm>
          <a:prstGeom prst="rect">
            <a:avLst/>
          </a:prstGeom>
          <a:noFill/>
        </p:spPr>
        <p:txBody>
          <a:bodyPr wrap="none" lIns="0" tIns="0" rIns="0" bIns="0" rtlCol="0" anchor="t"/>
          <a:lstStyle/>
          <a:p>
            <a:pPr marL="0" indent="0" algn="l">
              <a:lnSpc>
                <a:spcPts val="2550"/>
              </a:lnSpc>
              <a:buNone/>
            </a:pP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This transformation process is called </a:t>
            </a:r>
            <a:r>
              <a:rPr lang="en-US" sz="16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feature extraction</a:t>
            </a:r>
            <a:r>
              <a:rPr lang="en-US" sz="16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and it's the key to making our project work.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6140" y="375523"/>
            <a:ext cx="3022521" cy="341352"/>
          </a:xfrm>
          <a:prstGeom prst="rect">
            <a:avLst/>
          </a:prstGeom>
          <a:noFill/>
        </p:spPr>
        <p:txBody>
          <a:bodyPr wrap="none" lIns="0" tIns="0" rIns="0" bIns="0" rtlCol="0" anchor="t"/>
          <a:lstStyle/>
          <a:p>
            <a:pPr marL="0" indent="0" algn="l">
              <a:lnSpc>
                <a:spcPts val="2650"/>
              </a:lnSpc>
              <a:buNone/>
            </a:pPr>
            <a:endParaRPr lang="en-US" sz="2150" dirty="0"/>
          </a:p>
        </p:txBody>
      </p:sp>
      <p:sp>
        <p:nvSpPr>
          <p:cNvPr id="3" name="Text 1"/>
          <p:cNvSpPr/>
          <p:nvPr/>
        </p:nvSpPr>
        <p:spPr>
          <a:xfrm>
            <a:off x="546140" y="1058108"/>
            <a:ext cx="1638657" cy="204788"/>
          </a:xfrm>
          <a:prstGeom prst="rect">
            <a:avLst/>
          </a:prstGeom>
          <a:noFill/>
        </p:spPr>
        <p:txBody>
          <a:bodyPr wrap="none" lIns="0" tIns="0" rIns="0" bIns="0" rtlCol="0" anchor="t"/>
          <a:lstStyle/>
          <a:p>
            <a:pPr marL="0" indent="0" algn="l">
              <a:lnSpc>
                <a:spcPts val="1600"/>
              </a:lnSpc>
              <a:buNone/>
            </a:pPr>
            <a:endParaRPr lang="en-US" sz="1250" dirty="0"/>
          </a:p>
        </p:txBody>
      </p:sp>
      <p:sp>
        <p:nvSpPr>
          <p:cNvPr id="4" name="Text 2"/>
          <p:cNvSpPr/>
          <p:nvPr/>
        </p:nvSpPr>
        <p:spPr>
          <a:xfrm>
            <a:off x="546140" y="1399342"/>
            <a:ext cx="5908834" cy="655439"/>
          </a:xfrm>
          <a:prstGeom prst="rect">
            <a:avLst/>
          </a:prstGeom>
          <a:noFill/>
        </p:spPr>
        <p:txBody>
          <a:bodyPr wrap="square" lIns="0" tIns="0" rIns="0" bIns="0" rtlCol="0" anchor="t"/>
          <a:lstStyle/>
          <a:p>
            <a:pPr marL="0" indent="0" algn="l">
              <a:lnSpc>
                <a:spcPts val="1700"/>
              </a:lnSpc>
              <a:buNone/>
            </a:pPr>
            <a:endParaRPr lang="en-US" sz="1050" dirty="0"/>
          </a:p>
        </p:txBody>
      </p:sp>
      <p:sp>
        <p:nvSpPr>
          <p:cNvPr id="5" name="Text 3"/>
          <p:cNvSpPr/>
          <p:nvPr/>
        </p:nvSpPr>
        <p:spPr>
          <a:xfrm>
            <a:off x="546140" y="2177653"/>
            <a:ext cx="5908834" cy="436959"/>
          </a:xfrm>
          <a:prstGeom prst="rect">
            <a:avLst/>
          </a:prstGeom>
          <a:noFill/>
        </p:spPr>
        <p:txBody>
          <a:bodyPr wrap="square" lIns="0" tIns="0" rIns="0" bIns="0" rtlCol="0" anchor="t"/>
          <a:lstStyle/>
          <a:p>
            <a:pPr marL="0" indent="0" algn="l">
              <a:lnSpc>
                <a:spcPts val="1700"/>
              </a:lnSpc>
              <a:buNone/>
            </a:pPr>
            <a:endParaRPr lang="en-US" sz="1050" dirty="0"/>
          </a:p>
        </p:txBody>
      </p:sp>
      <p:sp>
        <p:nvSpPr>
          <p:cNvPr id="7" name="Shape 4"/>
          <p:cNvSpPr/>
          <p:nvPr/>
        </p:nvSpPr>
        <p:spPr>
          <a:xfrm>
            <a:off x="546140" y="8883253"/>
            <a:ext cx="4421743" cy="964049"/>
          </a:xfrm>
          <a:prstGeom prst="roundRect">
            <a:avLst>
              <a:gd name="adj" fmla="val 7588"/>
            </a:avLst>
          </a:prstGeom>
          <a:solidFill>
            <a:srgbClr val="F7F7F7"/>
          </a:solidFill>
        </p:spPr>
      </p:sp>
      <p:sp>
        <p:nvSpPr>
          <p:cNvPr id="8" name="Shape 5"/>
          <p:cNvSpPr/>
          <p:nvPr/>
        </p:nvSpPr>
        <p:spPr>
          <a:xfrm>
            <a:off x="546140" y="8868013"/>
            <a:ext cx="4421743" cy="60960"/>
          </a:xfrm>
          <a:prstGeom prst="roundRect">
            <a:avLst>
              <a:gd name="adj" fmla="val 94084"/>
            </a:avLst>
          </a:prstGeom>
          <a:solidFill>
            <a:srgbClr val="CCCCCC"/>
          </a:solidFill>
        </p:spPr>
      </p:sp>
      <p:sp>
        <p:nvSpPr>
          <p:cNvPr id="9" name="Shape 6"/>
          <p:cNvSpPr/>
          <p:nvPr/>
        </p:nvSpPr>
        <p:spPr>
          <a:xfrm>
            <a:off x="2552224" y="8678466"/>
            <a:ext cx="409575" cy="409575"/>
          </a:xfrm>
          <a:prstGeom prst="roundRect">
            <a:avLst>
              <a:gd name="adj" fmla="val 223256"/>
            </a:avLst>
          </a:prstGeom>
          <a:solidFill>
            <a:srgbClr val="CCCCCC"/>
          </a:solidFill>
        </p:spPr>
      </p:sp>
      <p:sp>
        <p:nvSpPr>
          <p:cNvPr id="10" name="Text 7"/>
          <p:cNvSpPr/>
          <p:nvPr/>
        </p:nvSpPr>
        <p:spPr>
          <a:xfrm>
            <a:off x="2675096" y="8780859"/>
            <a:ext cx="163830" cy="204788"/>
          </a:xfrm>
          <a:prstGeom prst="rect">
            <a:avLst/>
          </a:prstGeom>
          <a:noFill/>
        </p:spPr>
        <p:txBody>
          <a:bodyPr wrap="none" lIns="0" tIns="0" rIns="0" bIns="0" rtlCol="0" anchor="t"/>
          <a:lstStyle/>
          <a:p>
            <a:pPr marL="0" indent="0" algn="l">
              <a:lnSpc>
                <a:spcPts val="2050"/>
              </a:lnSpc>
              <a:buNone/>
            </a:pPr>
            <a:r>
              <a:rPr lang="en-US" sz="1250"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1</a:t>
            </a:r>
            <a:endParaRPr lang="en-US" sz="1250" dirty="0"/>
          </a:p>
        </p:txBody>
      </p:sp>
      <p:sp>
        <p:nvSpPr>
          <p:cNvPr id="11" name="Text 8"/>
          <p:cNvSpPr/>
          <p:nvPr/>
        </p:nvSpPr>
        <p:spPr>
          <a:xfrm>
            <a:off x="697825" y="9224605"/>
            <a:ext cx="1365528" cy="170617"/>
          </a:xfrm>
          <a:prstGeom prst="rect">
            <a:avLst/>
          </a:prstGeom>
          <a:noFill/>
        </p:spPr>
        <p:txBody>
          <a:bodyPr wrap="none" lIns="0" tIns="0" rIns="0" bIns="0" rtlCol="0" anchor="t"/>
          <a:lstStyle/>
          <a:p>
            <a:pPr marL="0" indent="0" algn="l">
              <a:lnSpc>
                <a:spcPts val="1300"/>
              </a:lnSpc>
              <a:buNone/>
            </a:pPr>
            <a:r>
              <a:rPr lang="en-US" sz="1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Reduce Complexity</a:t>
            </a:r>
            <a:endParaRPr lang="en-US" sz="1050" dirty="0"/>
          </a:p>
        </p:txBody>
      </p:sp>
      <p:sp>
        <p:nvSpPr>
          <p:cNvPr id="12" name="Text 9"/>
          <p:cNvSpPr/>
          <p:nvPr/>
        </p:nvSpPr>
        <p:spPr>
          <a:xfrm>
            <a:off x="697825" y="9477137"/>
            <a:ext cx="4118372" cy="218480"/>
          </a:xfrm>
          <a:prstGeom prst="rect">
            <a:avLst/>
          </a:prstGeom>
          <a:noFill/>
        </p:spPr>
        <p:txBody>
          <a:bodyPr wrap="none" lIns="0" tIns="0" rIns="0" bIns="0" rtlCol="0" anchor="t"/>
          <a:lstStyle/>
          <a:p>
            <a:pPr marL="0" indent="0" algn="l">
              <a:lnSpc>
                <a:spcPts val="1700"/>
              </a:lnSpc>
              <a:buNone/>
            </a:pPr>
            <a:r>
              <a:rPr lang="en-US" sz="1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Transform thousands of samples into dozens of meaningful numbers</a:t>
            </a:r>
            <a:endParaRPr lang="en-US" sz="1050" dirty="0"/>
          </a:p>
        </p:txBody>
      </p:sp>
      <p:sp>
        <p:nvSpPr>
          <p:cNvPr id="13" name="Shape 10"/>
          <p:cNvSpPr/>
          <p:nvPr/>
        </p:nvSpPr>
        <p:spPr>
          <a:xfrm>
            <a:off x="5104328" y="8883253"/>
            <a:ext cx="4421743" cy="964049"/>
          </a:xfrm>
          <a:prstGeom prst="roundRect">
            <a:avLst>
              <a:gd name="adj" fmla="val 7588"/>
            </a:avLst>
          </a:prstGeom>
          <a:solidFill>
            <a:srgbClr val="F7F7F7"/>
          </a:solidFill>
        </p:spPr>
      </p:sp>
      <p:sp>
        <p:nvSpPr>
          <p:cNvPr id="14" name="Shape 11"/>
          <p:cNvSpPr/>
          <p:nvPr/>
        </p:nvSpPr>
        <p:spPr>
          <a:xfrm>
            <a:off x="5104328" y="8868013"/>
            <a:ext cx="4421743" cy="60960"/>
          </a:xfrm>
          <a:prstGeom prst="roundRect">
            <a:avLst>
              <a:gd name="adj" fmla="val 94084"/>
            </a:avLst>
          </a:prstGeom>
          <a:solidFill>
            <a:srgbClr val="CCCCCC"/>
          </a:solidFill>
        </p:spPr>
      </p:sp>
      <p:sp>
        <p:nvSpPr>
          <p:cNvPr id="15" name="Shape 12"/>
          <p:cNvSpPr/>
          <p:nvPr/>
        </p:nvSpPr>
        <p:spPr>
          <a:xfrm>
            <a:off x="7110412" y="8678466"/>
            <a:ext cx="409575" cy="409575"/>
          </a:xfrm>
          <a:prstGeom prst="roundRect">
            <a:avLst>
              <a:gd name="adj" fmla="val 223256"/>
            </a:avLst>
          </a:prstGeom>
          <a:solidFill>
            <a:srgbClr val="CCCCCC"/>
          </a:solidFill>
        </p:spPr>
      </p:sp>
      <p:sp>
        <p:nvSpPr>
          <p:cNvPr id="16" name="Text 13"/>
          <p:cNvSpPr/>
          <p:nvPr/>
        </p:nvSpPr>
        <p:spPr>
          <a:xfrm>
            <a:off x="7233285" y="8780859"/>
            <a:ext cx="163830" cy="204788"/>
          </a:xfrm>
          <a:prstGeom prst="rect">
            <a:avLst/>
          </a:prstGeom>
          <a:noFill/>
        </p:spPr>
        <p:txBody>
          <a:bodyPr wrap="none" lIns="0" tIns="0" rIns="0" bIns="0" rtlCol="0" anchor="t"/>
          <a:lstStyle/>
          <a:p>
            <a:pPr marL="0" indent="0" algn="l">
              <a:lnSpc>
                <a:spcPts val="2050"/>
              </a:lnSpc>
              <a:buNone/>
            </a:pPr>
            <a:r>
              <a:rPr lang="en-US" sz="1250"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2</a:t>
            </a:r>
            <a:endParaRPr lang="en-US" sz="1250" dirty="0"/>
          </a:p>
        </p:txBody>
      </p:sp>
      <p:sp>
        <p:nvSpPr>
          <p:cNvPr id="17" name="Text 14"/>
          <p:cNvSpPr/>
          <p:nvPr/>
        </p:nvSpPr>
        <p:spPr>
          <a:xfrm>
            <a:off x="5256014" y="9224605"/>
            <a:ext cx="1365528" cy="170617"/>
          </a:xfrm>
          <a:prstGeom prst="rect">
            <a:avLst/>
          </a:prstGeom>
          <a:noFill/>
        </p:spPr>
        <p:txBody>
          <a:bodyPr wrap="none" lIns="0" tIns="0" rIns="0" bIns="0" rtlCol="0" anchor="t"/>
          <a:lstStyle/>
          <a:p>
            <a:pPr marL="0" indent="0" algn="l">
              <a:lnSpc>
                <a:spcPts val="1300"/>
              </a:lnSpc>
              <a:buNone/>
            </a:pPr>
            <a:r>
              <a:rPr lang="en-US" sz="1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Capture Essence</a:t>
            </a:r>
            <a:endParaRPr lang="en-US" sz="1050" dirty="0"/>
          </a:p>
        </p:txBody>
      </p:sp>
      <p:sp>
        <p:nvSpPr>
          <p:cNvPr id="18" name="Text 15"/>
          <p:cNvSpPr/>
          <p:nvPr/>
        </p:nvSpPr>
        <p:spPr>
          <a:xfrm>
            <a:off x="5256014" y="9477137"/>
            <a:ext cx="4118372" cy="218480"/>
          </a:xfrm>
          <a:prstGeom prst="rect">
            <a:avLst/>
          </a:prstGeom>
          <a:noFill/>
        </p:spPr>
        <p:txBody>
          <a:bodyPr wrap="none" lIns="0" tIns="0" rIns="0" bIns="0" rtlCol="0" anchor="t"/>
          <a:lstStyle/>
          <a:p>
            <a:pPr marL="0" indent="0" algn="l">
              <a:lnSpc>
                <a:spcPts val="1700"/>
              </a:lnSpc>
              <a:buNone/>
            </a:pPr>
            <a:r>
              <a:rPr lang="en-US" sz="1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Extract the acoustic properties that define each instrument</a:t>
            </a:r>
            <a:endParaRPr lang="en-US" sz="1050" dirty="0"/>
          </a:p>
        </p:txBody>
      </p:sp>
      <p:sp>
        <p:nvSpPr>
          <p:cNvPr id="19" name="Shape 16"/>
          <p:cNvSpPr/>
          <p:nvPr/>
        </p:nvSpPr>
        <p:spPr>
          <a:xfrm>
            <a:off x="9662517" y="8883253"/>
            <a:ext cx="4421743" cy="964049"/>
          </a:xfrm>
          <a:prstGeom prst="roundRect">
            <a:avLst>
              <a:gd name="adj" fmla="val 7588"/>
            </a:avLst>
          </a:prstGeom>
          <a:solidFill>
            <a:srgbClr val="F7F7F7"/>
          </a:solidFill>
        </p:spPr>
      </p:sp>
      <p:sp>
        <p:nvSpPr>
          <p:cNvPr id="20" name="Shape 17"/>
          <p:cNvSpPr/>
          <p:nvPr/>
        </p:nvSpPr>
        <p:spPr>
          <a:xfrm>
            <a:off x="9662517" y="8868013"/>
            <a:ext cx="4421743" cy="60960"/>
          </a:xfrm>
          <a:prstGeom prst="roundRect">
            <a:avLst>
              <a:gd name="adj" fmla="val 94084"/>
            </a:avLst>
          </a:prstGeom>
          <a:solidFill>
            <a:srgbClr val="CCCCCC"/>
          </a:solidFill>
        </p:spPr>
      </p:sp>
      <p:sp>
        <p:nvSpPr>
          <p:cNvPr id="21" name="Shape 18"/>
          <p:cNvSpPr/>
          <p:nvPr/>
        </p:nvSpPr>
        <p:spPr>
          <a:xfrm>
            <a:off x="11668601" y="8678466"/>
            <a:ext cx="409575" cy="409575"/>
          </a:xfrm>
          <a:prstGeom prst="roundRect">
            <a:avLst>
              <a:gd name="adj" fmla="val 223256"/>
            </a:avLst>
          </a:prstGeom>
          <a:solidFill>
            <a:srgbClr val="CCCCCC"/>
          </a:solidFill>
        </p:spPr>
      </p:sp>
      <p:sp>
        <p:nvSpPr>
          <p:cNvPr id="22" name="Text 19"/>
          <p:cNvSpPr/>
          <p:nvPr/>
        </p:nvSpPr>
        <p:spPr>
          <a:xfrm>
            <a:off x="11791474" y="8780859"/>
            <a:ext cx="163830" cy="204788"/>
          </a:xfrm>
          <a:prstGeom prst="rect">
            <a:avLst/>
          </a:prstGeom>
          <a:noFill/>
        </p:spPr>
        <p:txBody>
          <a:bodyPr wrap="none" lIns="0" tIns="0" rIns="0" bIns="0" rtlCol="0" anchor="t"/>
          <a:lstStyle/>
          <a:p>
            <a:pPr marL="0" indent="0" algn="l">
              <a:lnSpc>
                <a:spcPts val="2050"/>
              </a:lnSpc>
              <a:buNone/>
            </a:pPr>
            <a:r>
              <a:rPr lang="en-US" sz="1250"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3</a:t>
            </a:r>
            <a:endParaRPr lang="en-US" sz="1250" dirty="0"/>
          </a:p>
        </p:txBody>
      </p:sp>
      <p:sp>
        <p:nvSpPr>
          <p:cNvPr id="23" name="Text 20"/>
          <p:cNvSpPr/>
          <p:nvPr/>
        </p:nvSpPr>
        <p:spPr>
          <a:xfrm>
            <a:off x="9814203" y="9224605"/>
            <a:ext cx="1365528" cy="170617"/>
          </a:xfrm>
          <a:prstGeom prst="rect">
            <a:avLst/>
          </a:prstGeom>
          <a:noFill/>
        </p:spPr>
        <p:txBody>
          <a:bodyPr wrap="none" lIns="0" tIns="0" rIns="0" bIns="0" rtlCol="0" anchor="t"/>
          <a:lstStyle/>
          <a:p>
            <a:pPr marL="0" indent="0" algn="l">
              <a:lnSpc>
                <a:spcPts val="1300"/>
              </a:lnSpc>
              <a:buNone/>
            </a:pPr>
            <a:r>
              <a:rPr lang="en-US" sz="1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Enable Learning</a:t>
            </a:r>
            <a:endParaRPr lang="en-US" sz="1050" dirty="0"/>
          </a:p>
        </p:txBody>
      </p:sp>
      <p:sp>
        <p:nvSpPr>
          <p:cNvPr id="24" name="Text 21"/>
          <p:cNvSpPr/>
          <p:nvPr/>
        </p:nvSpPr>
        <p:spPr>
          <a:xfrm>
            <a:off x="9814203" y="9477137"/>
            <a:ext cx="4118372" cy="218480"/>
          </a:xfrm>
          <a:prstGeom prst="rect">
            <a:avLst/>
          </a:prstGeom>
          <a:noFill/>
        </p:spPr>
        <p:txBody>
          <a:bodyPr wrap="none" lIns="0" tIns="0" rIns="0" bIns="0" rtlCol="0" anchor="t"/>
          <a:lstStyle/>
          <a:p>
            <a:pPr marL="0" indent="0" algn="l">
              <a:lnSpc>
                <a:spcPts val="1700"/>
              </a:lnSpc>
              <a:buNone/>
            </a:pPr>
            <a:r>
              <a:rPr lang="en-US" sz="1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Create input that machine learning models can effectively process</a:t>
            </a:r>
            <a:endParaRPr lang="en-US" sz="1050" dirty="0"/>
          </a:p>
        </p:txBody>
      </p:sp>
      <p:pic>
        <p:nvPicPr>
          <p:cNvPr id="25" name="Picture 24" descr="Gemini_Generated_Image_nwmxv6nwmxv6nwmx"/>
          <p:cNvPicPr>
            <a:picLocks noChangeAspect="1"/>
          </p:cNvPicPr>
          <p:nvPr/>
        </p:nvPicPr>
        <p:blipFill>
          <a:blip r:embed="rId1"/>
          <a:stretch>
            <a:fillRect/>
          </a:stretch>
        </p:blipFill>
        <p:spPr>
          <a:xfrm>
            <a:off x="0" y="19050"/>
            <a:ext cx="14630400" cy="8210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39125"/>
          </a:xfrm>
          <a:prstGeom prst="rect">
            <a:avLst/>
          </a:prstGeom>
        </p:spPr>
      </p:pic>
      <p:sp>
        <p:nvSpPr>
          <p:cNvPr id="3" name="Text 0"/>
          <p:cNvSpPr/>
          <p:nvPr/>
        </p:nvSpPr>
        <p:spPr>
          <a:xfrm>
            <a:off x="642620" y="263525"/>
            <a:ext cx="2966720" cy="525780"/>
          </a:xfrm>
          <a:prstGeom prst="rect">
            <a:avLst/>
          </a:prstGeom>
          <a:noFill/>
        </p:spPr>
        <p:txBody>
          <a:bodyPr wrap="none" lIns="0" tIns="0" rIns="0" bIns="0" rtlCol="0" anchor="t"/>
          <a:lstStyle/>
          <a:p>
            <a:pPr marL="0" indent="0" algn="l">
              <a:lnSpc>
                <a:spcPts val="295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Our Feature Toolkit</a:t>
            </a:r>
            <a:endPar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2950"/>
              </a:lnSpc>
              <a:buNone/>
            </a:pPr>
            <a:endParaRPr lang="en-US" dirty="0"/>
          </a:p>
          <a:p>
            <a:pPr marL="0" indent="0" algn="l">
              <a:lnSpc>
                <a:spcPts val="2950"/>
              </a:lnSpc>
              <a:buNone/>
            </a:pPr>
            <a:endParaRPr lang="en-US" dirty="0"/>
          </a:p>
        </p:txBody>
      </p:sp>
      <p:sp>
        <p:nvSpPr>
          <p:cNvPr id="4" name="Text 1"/>
          <p:cNvSpPr/>
          <p:nvPr/>
        </p:nvSpPr>
        <p:spPr>
          <a:xfrm>
            <a:off x="601345" y="815340"/>
            <a:ext cx="7940675" cy="681355"/>
          </a:xfrm>
          <a:prstGeom prst="rect">
            <a:avLst/>
          </a:prstGeom>
          <a:noFill/>
        </p:spPr>
        <p:txBody>
          <a:bodyPr wrap="square" lIns="0" tIns="0" rIns="0" bIns="0" rtlCol="0" anchor="t"/>
          <a:lstStyle/>
          <a:p>
            <a:pPr marL="0" indent="0" algn="l">
              <a:lnSpc>
                <a:spcPts val="185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We extracted </a:t>
            </a:r>
            <a:r>
              <a:rPr lang="en-US"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36 distinct features</a:t>
            </a: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from each audio file, creating a comprehensive numerical fingerprint of every instrument sound. This multi-faceted approach ensures we capture different aspects of sound characteristics.</a:t>
            </a:r>
            <a:endParaRPr lang="en-US" dirty="0"/>
          </a:p>
        </p:txBody>
      </p:sp>
      <p:sp>
        <p:nvSpPr>
          <p:cNvPr id="5" name="Shape 2"/>
          <p:cNvSpPr/>
          <p:nvPr>
            <p:custDataLst>
              <p:tags r:id="rId2"/>
            </p:custDataLst>
          </p:nvPr>
        </p:nvSpPr>
        <p:spPr>
          <a:xfrm>
            <a:off x="601623" y="1665327"/>
            <a:ext cx="7940754" cy="1165146"/>
          </a:xfrm>
          <a:prstGeom prst="roundRect">
            <a:avLst>
              <a:gd name="adj" fmla="val 5422"/>
            </a:avLst>
          </a:prstGeom>
          <a:solidFill>
            <a:srgbClr val="CCCCCC"/>
          </a:solidFill>
          <a:ln w="7620">
            <a:solidFill>
              <a:srgbClr val="B2B2B2"/>
            </a:solidFill>
            <a:prstDash val="solid"/>
          </a:ln>
        </p:spPr>
      </p:sp>
      <p:sp>
        <p:nvSpPr>
          <p:cNvPr id="6" name="Text 3"/>
          <p:cNvSpPr/>
          <p:nvPr>
            <p:custDataLst>
              <p:tags r:id="rId3"/>
            </p:custDataLst>
          </p:nvPr>
        </p:nvSpPr>
        <p:spPr>
          <a:xfrm>
            <a:off x="759619" y="1823323"/>
            <a:ext cx="1503998" cy="187881"/>
          </a:xfrm>
          <a:prstGeom prst="rect">
            <a:avLst/>
          </a:prstGeom>
          <a:noFill/>
        </p:spPr>
        <p:txBody>
          <a:bodyPr wrap="none" lIns="0" tIns="0" rIns="0" bIns="0" rtlCol="0" anchor="t"/>
          <a:lstStyle/>
          <a:p>
            <a:pPr marL="0" indent="0" algn="l">
              <a:lnSpc>
                <a:spcPts val="1450"/>
              </a:lnSpc>
              <a:buNone/>
            </a:pPr>
            <a:r>
              <a:rPr lang="en-US"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MFCC</a:t>
            </a:r>
            <a:endParaRPr lang="en-US" dirty="0"/>
          </a:p>
        </p:txBody>
      </p:sp>
      <p:sp>
        <p:nvSpPr>
          <p:cNvPr id="7" name="Text 4"/>
          <p:cNvSpPr/>
          <p:nvPr>
            <p:custDataLst>
              <p:tags r:id="rId4"/>
            </p:custDataLst>
          </p:nvPr>
        </p:nvSpPr>
        <p:spPr>
          <a:xfrm>
            <a:off x="759619" y="2101334"/>
            <a:ext cx="7624762" cy="240506"/>
          </a:xfrm>
          <a:prstGeom prst="rect">
            <a:avLst/>
          </a:prstGeom>
          <a:noFill/>
        </p:spPr>
        <p:txBody>
          <a:bodyPr wrap="none" lIns="0" tIns="0" rIns="0" bIns="0" rtlCol="0" anchor="t"/>
          <a:lstStyle/>
          <a:p>
            <a:pPr marL="0" indent="0" algn="l">
              <a:lnSpc>
                <a:spcPts val="1850"/>
              </a:lnSpc>
              <a:buNone/>
            </a:pPr>
            <a:r>
              <a:rPr lang="en-US" sz="1600" b="1"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20 features</a:t>
            </a:r>
            <a:endParaRPr lang="en-US" sz="1600" dirty="0"/>
          </a:p>
        </p:txBody>
      </p:sp>
      <p:sp>
        <p:nvSpPr>
          <p:cNvPr id="8" name="Text 5"/>
          <p:cNvSpPr/>
          <p:nvPr>
            <p:custDataLst>
              <p:tags r:id="rId5"/>
            </p:custDataLst>
          </p:nvPr>
        </p:nvSpPr>
        <p:spPr>
          <a:xfrm>
            <a:off x="759619" y="2431971"/>
            <a:ext cx="7624762" cy="240506"/>
          </a:xfrm>
          <a:prstGeom prst="rect">
            <a:avLst/>
          </a:prstGeom>
          <a:noFill/>
        </p:spPr>
        <p:txBody>
          <a:bodyPr wrap="none" lIns="0" tIns="0" rIns="0" bIns="0" rtlCol="0" anchor="t"/>
          <a:lstStyle/>
          <a:p>
            <a:pPr marL="0" indent="0" algn="l">
              <a:lnSpc>
                <a:spcPts val="1850"/>
              </a:lnSpc>
              <a:buNone/>
            </a:pPr>
            <a:r>
              <a:rPr lang="en-US"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Mel-Frequency Cepstral Coefficients capture how humans perceive sound</a:t>
            </a:r>
            <a:endParaRPr lang="en-US" dirty="0"/>
          </a:p>
        </p:txBody>
      </p:sp>
      <p:sp>
        <p:nvSpPr>
          <p:cNvPr id="9" name="Shape 6"/>
          <p:cNvSpPr/>
          <p:nvPr>
            <p:custDataLst>
              <p:tags r:id="rId6"/>
            </p:custDataLst>
          </p:nvPr>
        </p:nvSpPr>
        <p:spPr>
          <a:xfrm>
            <a:off x="601623" y="2980849"/>
            <a:ext cx="7940754" cy="1165146"/>
          </a:xfrm>
          <a:prstGeom prst="roundRect">
            <a:avLst>
              <a:gd name="adj" fmla="val 5422"/>
            </a:avLst>
          </a:prstGeom>
          <a:solidFill>
            <a:srgbClr val="E6E6E6"/>
          </a:solidFill>
          <a:ln w="7620">
            <a:solidFill>
              <a:srgbClr val="CCCCCC"/>
            </a:solidFill>
            <a:prstDash val="solid"/>
          </a:ln>
        </p:spPr>
      </p:sp>
      <p:sp>
        <p:nvSpPr>
          <p:cNvPr id="10" name="Text 7"/>
          <p:cNvSpPr/>
          <p:nvPr>
            <p:custDataLst>
              <p:tags r:id="rId7"/>
            </p:custDataLst>
          </p:nvPr>
        </p:nvSpPr>
        <p:spPr>
          <a:xfrm>
            <a:off x="759619" y="3138845"/>
            <a:ext cx="1503998" cy="187881"/>
          </a:xfrm>
          <a:prstGeom prst="rect">
            <a:avLst/>
          </a:prstGeom>
          <a:noFill/>
        </p:spPr>
        <p:txBody>
          <a:bodyPr wrap="none" lIns="0" tIns="0" rIns="0" bIns="0" rtlCol="0" anchor="t"/>
          <a:lstStyle/>
          <a:p>
            <a:pPr marL="0" indent="0" algn="l">
              <a:lnSpc>
                <a:spcPts val="1450"/>
              </a:lnSpc>
              <a:buNone/>
            </a:pPr>
            <a:r>
              <a:rPr lang="en-US"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Chroma</a:t>
            </a:r>
            <a:endParaRPr lang="en-US" dirty="0"/>
          </a:p>
        </p:txBody>
      </p:sp>
      <p:sp>
        <p:nvSpPr>
          <p:cNvPr id="11" name="Text 8"/>
          <p:cNvSpPr/>
          <p:nvPr>
            <p:custDataLst>
              <p:tags r:id="rId8"/>
            </p:custDataLst>
          </p:nvPr>
        </p:nvSpPr>
        <p:spPr>
          <a:xfrm>
            <a:off x="759619" y="3416856"/>
            <a:ext cx="7624762" cy="240506"/>
          </a:xfrm>
          <a:prstGeom prst="rect">
            <a:avLst/>
          </a:prstGeom>
          <a:noFill/>
        </p:spPr>
        <p:txBody>
          <a:bodyPr wrap="none" lIns="0" tIns="0" rIns="0" bIns="0" rtlCol="0" anchor="t"/>
          <a:lstStyle/>
          <a:p>
            <a:pPr marL="0" indent="0" algn="l">
              <a:lnSpc>
                <a:spcPts val="1850"/>
              </a:lnSpc>
              <a:buNone/>
            </a:pPr>
            <a:r>
              <a:rPr lang="en-US" sz="1600" b="1"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12 features</a:t>
            </a:r>
            <a:endParaRPr lang="en-US" sz="1600" dirty="0"/>
          </a:p>
        </p:txBody>
      </p:sp>
      <p:sp>
        <p:nvSpPr>
          <p:cNvPr id="12" name="Text 9"/>
          <p:cNvSpPr/>
          <p:nvPr>
            <p:custDataLst>
              <p:tags r:id="rId9"/>
            </p:custDataLst>
          </p:nvPr>
        </p:nvSpPr>
        <p:spPr>
          <a:xfrm>
            <a:off x="759619" y="3747492"/>
            <a:ext cx="7624762" cy="240506"/>
          </a:xfrm>
          <a:prstGeom prst="rect">
            <a:avLst/>
          </a:prstGeom>
          <a:noFill/>
        </p:spPr>
        <p:txBody>
          <a:bodyPr wrap="none" lIns="0" tIns="0" rIns="0" bIns="0" rtlCol="0" anchor="t"/>
          <a:lstStyle/>
          <a:p>
            <a:pPr marL="0" indent="0" algn="l">
              <a:lnSpc>
                <a:spcPts val="1850"/>
              </a:lnSpc>
              <a:buNone/>
            </a:pPr>
            <a:r>
              <a:rPr lang="en-US"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Musical note representation (C, D, E, F, G, A, B)</a:t>
            </a:r>
            <a:endParaRPr lang="en-US" dirty="0"/>
          </a:p>
        </p:txBody>
      </p:sp>
      <p:sp>
        <p:nvSpPr>
          <p:cNvPr id="13" name="Shape 10"/>
          <p:cNvSpPr/>
          <p:nvPr>
            <p:custDataLst>
              <p:tags r:id="rId10"/>
            </p:custDataLst>
          </p:nvPr>
        </p:nvSpPr>
        <p:spPr>
          <a:xfrm>
            <a:off x="601623" y="4296370"/>
            <a:ext cx="7940754" cy="1165146"/>
          </a:xfrm>
          <a:prstGeom prst="roundRect">
            <a:avLst>
              <a:gd name="adj" fmla="val 5422"/>
            </a:avLst>
          </a:prstGeom>
          <a:solidFill>
            <a:srgbClr val="E6E6E6"/>
          </a:solidFill>
          <a:ln w="7620">
            <a:solidFill>
              <a:srgbClr val="CCCCCC"/>
            </a:solidFill>
            <a:prstDash val="solid"/>
          </a:ln>
        </p:spPr>
      </p:sp>
      <p:sp>
        <p:nvSpPr>
          <p:cNvPr id="14" name="Text 11"/>
          <p:cNvSpPr/>
          <p:nvPr>
            <p:custDataLst>
              <p:tags r:id="rId11"/>
            </p:custDataLst>
          </p:nvPr>
        </p:nvSpPr>
        <p:spPr>
          <a:xfrm>
            <a:off x="759619" y="4454366"/>
            <a:ext cx="1503998" cy="187881"/>
          </a:xfrm>
          <a:prstGeom prst="rect">
            <a:avLst/>
          </a:prstGeom>
          <a:noFill/>
        </p:spPr>
        <p:txBody>
          <a:bodyPr wrap="none" lIns="0" tIns="0" rIns="0" bIns="0" rtlCol="0" anchor="t"/>
          <a:lstStyle/>
          <a:p>
            <a:pPr marL="0" indent="0" algn="l">
              <a:lnSpc>
                <a:spcPts val="145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Spectral Features</a:t>
            </a:r>
            <a:endParaRPr lang="en-US" dirty="0"/>
          </a:p>
        </p:txBody>
      </p:sp>
      <p:sp>
        <p:nvSpPr>
          <p:cNvPr id="15" name="Text 12"/>
          <p:cNvSpPr/>
          <p:nvPr>
            <p:custDataLst>
              <p:tags r:id="rId12"/>
            </p:custDataLst>
          </p:nvPr>
        </p:nvSpPr>
        <p:spPr>
          <a:xfrm>
            <a:off x="759619" y="4732377"/>
            <a:ext cx="7624762" cy="240506"/>
          </a:xfrm>
          <a:prstGeom prst="rect">
            <a:avLst/>
          </a:prstGeom>
          <a:noFill/>
        </p:spPr>
        <p:txBody>
          <a:bodyPr wrap="none" lIns="0" tIns="0" rIns="0" bIns="0" rtlCol="0" anchor="t"/>
          <a:lstStyle/>
          <a:p>
            <a:pPr marL="0" indent="0" algn="l">
              <a:lnSpc>
                <a:spcPts val="1850"/>
              </a:lnSpc>
              <a:buNone/>
            </a:pPr>
            <a:r>
              <a:rPr lang="en-US" sz="16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3 features</a:t>
            </a:r>
            <a:endParaRPr lang="en-US" sz="1600" dirty="0"/>
          </a:p>
        </p:txBody>
      </p:sp>
      <p:sp>
        <p:nvSpPr>
          <p:cNvPr id="16" name="Text 13"/>
          <p:cNvSpPr/>
          <p:nvPr>
            <p:custDataLst>
              <p:tags r:id="rId13"/>
            </p:custDataLst>
          </p:nvPr>
        </p:nvSpPr>
        <p:spPr>
          <a:xfrm>
            <a:off x="759619" y="5063014"/>
            <a:ext cx="7624762" cy="240506"/>
          </a:xfrm>
          <a:prstGeom prst="rect">
            <a:avLst/>
          </a:prstGeom>
          <a:noFill/>
        </p:spPr>
        <p:txBody>
          <a:bodyPr wrap="none" lIns="0" tIns="0" rIns="0" bIns="0" rtlCol="0" anchor="t"/>
          <a:lstStyle/>
          <a:p>
            <a:pPr marL="0" indent="0" algn="l">
              <a:lnSpc>
                <a:spcPts val="1850"/>
              </a:lnSpc>
              <a:buNone/>
            </a:pPr>
            <a:r>
              <a:rPr lang="en-US"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Centroid, Bandwidth, Rolloff—frequency distribution metrics</a:t>
            </a:r>
            <a:endParaRPr lang="en-US" dirty="0"/>
          </a:p>
        </p:txBody>
      </p:sp>
      <p:sp>
        <p:nvSpPr>
          <p:cNvPr id="17" name="Shape 14"/>
          <p:cNvSpPr/>
          <p:nvPr>
            <p:custDataLst>
              <p:tags r:id="rId14"/>
            </p:custDataLst>
          </p:nvPr>
        </p:nvSpPr>
        <p:spPr>
          <a:xfrm>
            <a:off x="601623" y="5611892"/>
            <a:ext cx="7940754" cy="1165146"/>
          </a:xfrm>
          <a:prstGeom prst="roundRect">
            <a:avLst>
              <a:gd name="adj" fmla="val 5422"/>
            </a:avLst>
          </a:prstGeom>
          <a:solidFill>
            <a:srgbClr val="E6E6E6"/>
          </a:solidFill>
          <a:ln w="7620">
            <a:solidFill>
              <a:srgbClr val="CCCCCC"/>
            </a:solidFill>
            <a:prstDash val="solid"/>
          </a:ln>
        </p:spPr>
      </p:sp>
      <p:sp>
        <p:nvSpPr>
          <p:cNvPr id="18" name="Text 15"/>
          <p:cNvSpPr/>
          <p:nvPr>
            <p:custDataLst>
              <p:tags r:id="rId15"/>
            </p:custDataLst>
          </p:nvPr>
        </p:nvSpPr>
        <p:spPr>
          <a:xfrm>
            <a:off x="759619" y="5769888"/>
            <a:ext cx="1503998" cy="187881"/>
          </a:xfrm>
          <a:prstGeom prst="rect">
            <a:avLst/>
          </a:prstGeom>
          <a:noFill/>
        </p:spPr>
        <p:txBody>
          <a:bodyPr wrap="none" lIns="0" tIns="0" rIns="0" bIns="0" rtlCol="0" anchor="t"/>
          <a:lstStyle/>
          <a:p>
            <a:pPr marL="0" indent="0" algn="l">
              <a:lnSpc>
                <a:spcPts val="1450"/>
              </a:lnSpc>
              <a:buNone/>
            </a:pPr>
            <a:r>
              <a:rPr lang="en-US"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ZCR</a:t>
            </a:r>
            <a:endParaRPr lang="en-US" dirty="0"/>
          </a:p>
        </p:txBody>
      </p:sp>
      <p:sp>
        <p:nvSpPr>
          <p:cNvPr id="19" name="Text 16"/>
          <p:cNvSpPr/>
          <p:nvPr>
            <p:custDataLst>
              <p:tags r:id="rId16"/>
            </p:custDataLst>
          </p:nvPr>
        </p:nvSpPr>
        <p:spPr>
          <a:xfrm>
            <a:off x="759619" y="6047899"/>
            <a:ext cx="7624762" cy="240506"/>
          </a:xfrm>
          <a:prstGeom prst="rect">
            <a:avLst/>
          </a:prstGeom>
          <a:noFill/>
        </p:spPr>
        <p:txBody>
          <a:bodyPr wrap="none" lIns="0" tIns="0" rIns="0" bIns="0" rtlCol="0" anchor="t"/>
          <a:lstStyle/>
          <a:p>
            <a:pPr marL="0" indent="0" algn="l">
              <a:lnSpc>
                <a:spcPts val="1850"/>
              </a:lnSpc>
              <a:buNone/>
            </a:pPr>
            <a:r>
              <a:rPr lang="en-US" b="1"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1 feature</a:t>
            </a:r>
            <a:endParaRPr lang="en-US" dirty="0"/>
          </a:p>
        </p:txBody>
      </p:sp>
      <p:sp>
        <p:nvSpPr>
          <p:cNvPr id="20" name="Text 17"/>
          <p:cNvSpPr/>
          <p:nvPr>
            <p:custDataLst>
              <p:tags r:id="rId17"/>
            </p:custDataLst>
          </p:nvPr>
        </p:nvSpPr>
        <p:spPr>
          <a:xfrm>
            <a:off x="759619" y="6378535"/>
            <a:ext cx="7624762" cy="240506"/>
          </a:xfrm>
          <a:prstGeom prst="rect">
            <a:avLst/>
          </a:prstGeom>
          <a:noFill/>
        </p:spPr>
        <p:txBody>
          <a:bodyPr wrap="none" lIns="0" tIns="0" rIns="0" bIns="0" rtlCol="0" anchor="t"/>
          <a:lstStyle/>
          <a:p>
            <a:pPr marL="0" indent="0" algn="l">
              <a:lnSpc>
                <a:spcPts val="1850"/>
              </a:lnSpc>
              <a:buNone/>
            </a:pPr>
            <a:r>
              <a:rPr lang="en-US"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Zero Crossing Rate indicates signal volatility</a:t>
            </a:r>
            <a:endParaRPr lang="en-US" dirty="0"/>
          </a:p>
        </p:txBody>
      </p:sp>
      <p:sp>
        <p:nvSpPr>
          <p:cNvPr id="21" name="Shape 18"/>
          <p:cNvSpPr/>
          <p:nvPr/>
        </p:nvSpPr>
        <p:spPr>
          <a:xfrm>
            <a:off x="601623" y="6946225"/>
            <a:ext cx="7940754" cy="879277"/>
          </a:xfrm>
          <a:prstGeom prst="roundRect">
            <a:avLst>
              <a:gd name="adj" fmla="val 7185"/>
            </a:avLst>
          </a:prstGeom>
          <a:solidFill>
            <a:srgbClr val="D9D9D9"/>
          </a:solidFill>
        </p:spPr>
      </p:sp>
      <p:pic>
        <p:nvPicPr>
          <p:cNvPr id="22" name="Image 1" descr="preencoded.png"/>
          <p:cNvPicPr>
            <a:picLocks noChangeAspect="1"/>
          </p:cNvPicPr>
          <p:nvPr/>
        </p:nvPicPr>
        <p:blipFill>
          <a:blip r:embed="rId18"/>
          <a:stretch>
            <a:fillRect/>
          </a:stretch>
        </p:blipFill>
        <p:spPr>
          <a:xfrm>
            <a:off x="751999" y="7177683"/>
            <a:ext cx="188000" cy="150376"/>
          </a:xfrm>
          <a:prstGeom prst="rect">
            <a:avLst/>
          </a:prstGeom>
        </p:spPr>
      </p:pic>
      <p:sp>
        <p:nvSpPr>
          <p:cNvPr id="23" name="Text 19"/>
          <p:cNvSpPr/>
          <p:nvPr/>
        </p:nvSpPr>
        <p:spPr>
          <a:xfrm>
            <a:off x="1090374" y="7134106"/>
            <a:ext cx="7301627" cy="481013"/>
          </a:xfrm>
          <a:prstGeom prst="rect">
            <a:avLst/>
          </a:prstGeom>
          <a:noFill/>
        </p:spPr>
        <p:txBody>
          <a:bodyPr wrap="square" lIns="0" tIns="0" rIns="0" bIns="0" rtlCol="0" anchor="t"/>
          <a:lstStyle/>
          <a:p>
            <a:pPr marL="0" indent="0" algn="l">
              <a:lnSpc>
                <a:spcPts val="1850"/>
              </a:lnSpc>
              <a:buNone/>
            </a:pPr>
            <a:r>
              <a:rPr lang="en-US" sz="1150" dirty="0">
                <a:solidFill>
                  <a:srgbClr val="000000"/>
                </a:solidFill>
                <a:latin typeface="Patrick Hand" panose="00000500000000000000" pitchFamily="34" charset="0"/>
                <a:ea typeface="Patrick Hand" panose="00000500000000000000" pitchFamily="34" charset="-122"/>
                <a:cs typeface="Patrick Hand" panose="00000500000000000000" pitchFamily="34" charset="-120"/>
              </a:rPr>
              <a:t>Together, these 36 features transform each 3-second audio clip into a point in 36-dimensional space, where instruments with similar sounds cluster together.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5316" y="429816"/>
            <a:ext cx="3229570" cy="390763"/>
          </a:xfrm>
          <a:prstGeom prst="rect">
            <a:avLst/>
          </a:prstGeom>
          <a:noFill/>
        </p:spPr>
        <p:txBody>
          <a:bodyPr wrap="none" lIns="0" tIns="0" rIns="0" bIns="0" rtlCol="0" anchor="t"/>
          <a:lstStyle/>
          <a:p>
            <a:pPr marL="0" indent="0" algn="l">
              <a:lnSpc>
                <a:spcPts val="3050"/>
              </a:lnSpc>
              <a:buNone/>
            </a:pPr>
            <a:r>
              <a:rPr lang="en-US" sz="2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MFCC: The Backbone Feature</a:t>
            </a:r>
            <a:endParaRPr lang="en-US" sz="2450" dirty="0"/>
          </a:p>
        </p:txBody>
      </p:sp>
      <p:sp>
        <p:nvSpPr>
          <p:cNvPr id="3" name="Text 1"/>
          <p:cNvSpPr/>
          <p:nvPr/>
        </p:nvSpPr>
        <p:spPr>
          <a:xfrm>
            <a:off x="625316" y="1211342"/>
            <a:ext cx="2519005" cy="234553"/>
          </a:xfrm>
          <a:prstGeom prst="rect">
            <a:avLst/>
          </a:prstGeom>
          <a:noFill/>
        </p:spPr>
        <p:txBody>
          <a:bodyPr wrap="none" lIns="0" tIns="0" rIns="0" bIns="0" rtlCol="0" anchor="t"/>
          <a:lstStyle/>
          <a:p>
            <a:pPr marL="0" indent="0" algn="l">
              <a:lnSpc>
                <a:spcPts val="1800"/>
              </a:lnSpc>
              <a:buNone/>
            </a:pPr>
            <a:r>
              <a:rPr lang="en-US" sz="28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Mel-Frequency Cepstral Coefficients</a:t>
            </a:r>
            <a:endParaRPr lang="en-US" sz="2800" b="1" dirty="0"/>
          </a:p>
        </p:txBody>
      </p:sp>
      <p:sp>
        <p:nvSpPr>
          <p:cNvPr id="4" name="Text 2"/>
          <p:cNvSpPr/>
          <p:nvPr/>
        </p:nvSpPr>
        <p:spPr>
          <a:xfrm>
            <a:off x="625316" y="1602224"/>
            <a:ext cx="7187208" cy="500063"/>
          </a:xfrm>
          <a:prstGeom prst="rect">
            <a:avLst/>
          </a:prstGeom>
          <a:noFill/>
        </p:spPr>
        <p:txBody>
          <a:bodyPr wrap="square" lIns="0" tIns="0" rIns="0" bIns="0" rtlCol="0" anchor="t"/>
          <a:lstStyle/>
          <a:p>
            <a:pPr marL="0" indent="0" algn="l">
              <a:lnSpc>
                <a:spcPts val="1950"/>
              </a:lnSpc>
              <a:buNone/>
            </a:pPr>
            <a:endPar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1950"/>
              </a:lnSpc>
              <a:buNone/>
            </a:pPr>
            <a:endPar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endParaRPr>
          </a:p>
          <a:p>
            <a:pPr marL="0" indent="0" algn="l">
              <a:lnSpc>
                <a:spcPts val="1950"/>
              </a:lnSpc>
              <a:buNone/>
            </a:pP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MFCC is the most important feature in our toolkit, and for good reason—it captures </a:t>
            </a:r>
            <a:r>
              <a:rPr lang="en-US" sz="20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timbre</a:t>
            </a: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the unique "color" or quality of sound that distinguishes one instrument from another.</a:t>
            </a:r>
            <a:endParaRPr lang="en-US" sz="2000" dirty="0"/>
          </a:p>
        </p:txBody>
      </p:sp>
      <p:sp>
        <p:nvSpPr>
          <p:cNvPr id="5" name="Text 3"/>
          <p:cNvSpPr/>
          <p:nvPr/>
        </p:nvSpPr>
        <p:spPr>
          <a:xfrm>
            <a:off x="637540" y="3230880"/>
            <a:ext cx="7174865" cy="1087755"/>
          </a:xfrm>
          <a:prstGeom prst="rect">
            <a:avLst/>
          </a:prstGeom>
          <a:noFill/>
        </p:spPr>
        <p:txBody>
          <a:bodyPr wrap="square" lIns="0" tIns="0" rIns="0" bIns="0" rtlCol="0" anchor="t"/>
          <a:lstStyle/>
          <a:p>
            <a:pPr marL="0" indent="0" algn="l">
              <a:lnSpc>
                <a:spcPts val="1950"/>
              </a:lnSpc>
              <a:buNone/>
            </a:pP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Even when two instruments play the same note at the same volume, they sound different because of timbre. MFCC quantifies this difference by modeling how the human auditory system perceives sound, using the mel scale that mirrors our ear's frequency response.</a:t>
            </a:r>
            <a:endParaRPr lang="en-US" sz="2000" dirty="0"/>
          </a:p>
        </p:txBody>
      </p:sp>
      <p:sp>
        <p:nvSpPr>
          <p:cNvPr id="6" name="Text 4"/>
          <p:cNvSpPr/>
          <p:nvPr/>
        </p:nvSpPr>
        <p:spPr>
          <a:xfrm>
            <a:off x="636270" y="4649470"/>
            <a:ext cx="7176135" cy="1477645"/>
          </a:xfrm>
          <a:prstGeom prst="rect">
            <a:avLst/>
          </a:prstGeom>
          <a:noFill/>
        </p:spPr>
        <p:txBody>
          <a:bodyPr wrap="square" lIns="0" tIns="0" rIns="0" bIns="0" rtlCol="0" anchor="t"/>
          <a:lstStyle/>
          <a:p>
            <a:pPr marL="0" indent="0" algn="l">
              <a:lnSpc>
                <a:spcPts val="1950"/>
              </a:lnSpc>
              <a:buNone/>
            </a:pPr>
            <a:r>
              <a:rPr lang="en-US" sz="20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We extract 20 MFCC coefficients per audio sample, each representing different aspects of the spectral envelope. This makes MFCC incredibly powerful for separating instruments with similar pitches but different tonal qualities.</a:t>
            </a:r>
            <a:endParaRPr lang="en-US" sz="2000" dirty="0"/>
          </a:p>
        </p:txBody>
      </p:sp>
      <p:sp>
        <p:nvSpPr>
          <p:cNvPr id="9" name="Text 5"/>
          <p:cNvSpPr/>
          <p:nvPr/>
        </p:nvSpPr>
        <p:spPr>
          <a:xfrm>
            <a:off x="625316" y="7505105"/>
            <a:ext cx="1563291" cy="195382"/>
          </a:xfrm>
          <a:prstGeom prst="rect">
            <a:avLst/>
          </a:prstGeom>
          <a:noFill/>
        </p:spPr>
        <p:txBody>
          <a:bodyPr wrap="none" lIns="0" tIns="0" rIns="0" bIns="0" rtlCol="0" anchor="t"/>
          <a:lstStyle/>
          <a:p>
            <a:pPr marL="0" indent="0" algn="l">
              <a:lnSpc>
                <a:spcPts val="1500"/>
              </a:lnSpc>
              <a:buNone/>
            </a:pPr>
            <a:endParaRPr lang="en-US" sz="1200" dirty="0"/>
          </a:p>
        </p:txBody>
      </p:sp>
      <p:sp>
        <p:nvSpPr>
          <p:cNvPr id="10" name="Text 6"/>
          <p:cNvSpPr/>
          <p:nvPr/>
        </p:nvSpPr>
        <p:spPr>
          <a:xfrm>
            <a:off x="625316" y="7794188"/>
            <a:ext cx="4329589" cy="250031"/>
          </a:xfrm>
          <a:prstGeom prst="rect">
            <a:avLst/>
          </a:prstGeom>
          <a:noFill/>
        </p:spPr>
        <p:txBody>
          <a:bodyPr wrap="none" lIns="0" tIns="0" rIns="0" bIns="0" rtlCol="0" anchor="t"/>
          <a:lstStyle/>
          <a:p>
            <a:pPr marL="0" indent="0" algn="l">
              <a:lnSpc>
                <a:spcPts val="1950"/>
              </a:lnSpc>
              <a:buNone/>
            </a:pPr>
            <a:endParaRPr lang="en-US" sz="1200" dirty="0"/>
          </a:p>
        </p:txBody>
      </p:sp>
      <p:sp>
        <p:nvSpPr>
          <p:cNvPr id="12" name="Text 7"/>
          <p:cNvSpPr/>
          <p:nvPr/>
        </p:nvSpPr>
        <p:spPr>
          <a:xfrm>
            <a:off x="5150287" y="7505105"/>
            <a:ext cx="1563291" cy="195382"/>
          </a:xfrm>
          <a:prstGeom prst="rect">
            <a:avLst/>
          </a:prstGeom>
          <a:noFill/>
        </p:spPr>
        <p:txBody>
          <a:bodyPr wrap="none" lIns="0" tIns="0" rIns="0" bIns="0" rtlCol="0" anchor="t"/>
          <a:lstStyle/>
          <a:p>
            <a:pPr marL="0" indent="0" algn="l">
              <a:lnSpc>
                <a:spcPts val="1500"/>
              </a:lnSpc>
              <a:buNone/>
            </a:pPr>
            <a:endParaRPr lang="en-US" sz="1200" dirty="0"/>
          </a:p>
        </p:txBody>
      </p:sp>
      <p:sp>
        <p:nvSpPr>
          <p:cNvPr id="13" name="Text 8"/>
          <p:cNvSpPr/>
          <p:nvPr/>
        </p:nvSpPr>
        <p:spPr>
          <a:xfrm>
            <a:off x="5150287" y="7794188"/>
            <a:ext cx="4329708" cy="250031"/>
          </a:xfrm>
          <a:prstGeom prst="rect">
            <a:avLst/>
          </a:prstGeom>
          <a:noFill/>
        </p:spPr>
        <p:txBody>
          <a:bodyPr wrap="none" lIns="0" tIns="0" rIns="0" bIns="0" rtlCol="0" anchor="t"/>
          <a:lstStyle/>
          <a:p>
            <a:pPr marL="0" indent="0" algn="l">
              <a:lnSpc>
                <a:spcPts val="1950"/>
              </a:lnSpc>
              <a:buNone/>
            </a:pPr>
            <a:endParaRPr lang="en-US" sz="1200" dirty="0"/>
          </a:p>
        </p:txBody>
      </p:sp>
      <p:sp>
        <p:nvSpPr>
          <p:cNvPr id="15" name="Text 9"/>
          <p:cNvSpPr/>
          <p:nvPr/>
        </p:nvSpPr>
        <p:spPr>
          <a:xfrm>
            <a:off x="9675376" y="7505105"/>
            <a:ext cx="1563291" cy="195382"/>
          </a:xfrm>
          <a:prstGeom prst="rect">
            <a:avLst/>
          </a:prstGeom>
          <a:noFill/>
        </p:spPr>
        <p:txBody>
          <a:bodyPr wrap="none" lIns="0" tIns="0" rIns="0" bIns="0" rtlCol="0" anchor="t"/>
          <a:lstStyle/>
          <a:p>
            <a:pPr marL="0" indent="0" algn="l">
              <a:lnSpc>
                <a:spcPts val="1500"/>
              </a:lnSpc>
              <a:buNone/>
            </a:pPr>
            <a:endParaRPr lang="en-US" sz="1200" dirty="0"/>
          </a:p>
        </p:txBody>
      </p:sp>
      <p:sp>
        <p:nvSpPr>
          <p:cNvPr id="16" name="Text 10"/>
          <p:cNvSpPr/>
          <p:nvPr/>
        </p:nvSpPr>
        <p:spPr>
          <a:xfrm>
            <a:off x="9675376" y="7794188"/>
            <a:ext cx="4329708" cy="250031"/>
          </a:xfrm>
          <a:prstGeom prst="rect">
            <a:avLst/>
          </a:prstGeom>
          <a:noFill/>
        </p:spPr>
        <p:txBody>
          <a:bodyPr wrap="none" lIns="0" tIns="0" rIns="0" bIns="0" rtlCol="0" anchor="t"/>
          <a:lstStyle/>
          <a:p>
            <a:pPr marL="0" indent="0" algn="l">
              <a:lnSpc>
                <a:spcPts val="1950"/>
              </a:lnSpc>
              <a:buNone/>
            </a:pPr>
            <a:endParaRPr lang="en-US" sz="1200" dirty="0"/>
          </a:p>
        </p:txBody>
      </p:sp>
      <p:sp>
        <p:nvSpPr>
          <p:cNvPr id="17" name="Rectangles 16"/>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8" name="Picture 17" descr="Gemini_Generated_Image_qvj1sxqvj1sxqvj1"/>
          <p:cNvPicPr>
            <a:picLocks noChangeAspect="1"/>
          </p:cNvPicPr>
          <p:nvPr/>
        </p:nvPicPr>
        <p:blipFill>
          <a:blip r:embed="rId1"/>
          <a:stretch>
            <a:fillRect/>
          </a:stretch>
        </p:blipFill>
        <p:spPr>
          <a:xfrm>
            <a:off x="7812405" y="2102485"/>
            <a:ext cx="6273800" cy="39077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79158" y="604361"/>
            <a:ext cx="4475917" cy="549473"/>
          </a:xfrm>
          <a:prstGeom prst="rect">
            <a:avLst/>
          </a:prstGeom>
          <a:noFill/>
        </p:spPr>
        <p:txBody>
          <a:bodyPr wrap="none" lIns="0" tIns="0" rIns="0" bIns="0" rtlCol="0" anchor="t"/>
          <a:lstStyle/>
          <a:p>
            <a:pPr marL="0" indent="0" algn="l">
              <a:lnSpc>
                <a:spcPts val="4300"/>
              </a:lnSpc>
              <a:buNone/>
            </a:pPr>
            <a:r>
              <a:rPr lang="en-US" sz="3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Chroma &amp; Spectral Features</a:t>
            </a:r>
            <a:endParaRPr lang="en-US" sz="3450" dirty="0"/>
          </a:p>
        </p:txBody>
      </p:sp>
      <p:sp>
        <p:nvSpPr>
          <p:cNvPr id="3" name="Shape 1"/>
          <p:cNvSpPr/>
          <p:nvPr/>
        </p:nvSpPr>
        <p:spPr>
          <a:xfrm>
            <a:off x="879158" y="1593413"/>
            <a:ext cx="6326148" cy="3499961"/>
          </a:xfrm>
          <a:prstGeom prst="roundRect">
            <a:avLst>
              <a:gd name="adj" fmla="val 4180"/>
            </a:avLst>
          </a:prstGeom>
          <a:solidFill>
            <a:srgbClr val="F7F7F7"/>
          </a:solidFill>
          <a:ln w="30480">
            <a:solidFill>
              <a:srgbClr val="CCCCCC"/>
            </a:solidFill>
            <a:prstDash val="solid"/>
          </a:ln>
        </p:spPr>
      </p:sp>
      <p:sp>
        <p:nvSpPr>
          <p:cNvPr id="4" name="Shape 2"/>
          <p:cNvSpPr/>
          <p:nvPr/>
        </p:nvSpPr>
        <p:spPr>
          <a:xfrm>
            <a:off x="848678" y="1593413"/>
            <a:ext cx="121920" cy="3499961"/>
          </a:xfrm>
          <a:prstGeom prst="roundRect">
            <a:avLst>
              <a:gd name="adj" fmla="val 75716"/>
            </a:avLst>
          </a:prstGeom>
          <a:solidFill>
            <a:srgbClr val="CCCCCC"/>
          </a:solidFill>
        </p:spPr>
      </p:sp>
      <p:sp>
        <p:nvSpPr>
          <p:cNvPr id="5" name="Text 3"/>
          <p:cNvSpPr/>
          <p:nvPr/>
        </p:nvSpPr>
        <p:spPr>
          <a:xfrm>
            <a:off x="1220867" y="1843683"/>
            <a:ext cx="2276951" cy="274677"/>
          </a:xfrm>
          <a:prstGeom prst="rect">
            <a:avLst/>
          </a:prstGeom>
          <a:noFill/>
        </p:spPr>
        <p:txBody>
          <a:bodyPr wrap="none" lIns="0" tIns="0" rIns="0" bIns="0" rtlCol="0" anchor="t"/>
          <a:lstStyle/>
          <a:p>
            <a:pPr marL="0" indent="0" algn="l">
              <a:lnSpc>
                <a:spcPts val="21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Chroma Features (12 values)</a:t>
            </a:r>
            <a:endParaRPr lang="en-US" sz="1700" dirty="0"/>
          </a:p>
        </p:txBody>
      </p:sp>
      <p:sp>
        <p:nvSpPr>
          <p:cNvPr id="6" name="Text 4"/>
          <p:cNvSpPr/>
          <p:nvPr/>
        </p:nvSpPr>
        <p:spPr>
          <a:xfrm>
            <a:off x="1220867" y="2250162"/>
            <a:ext cx="5734169" cy="1054775"/>
          </a:xfrm>
          <a:prstGeom prst="rect">
            <a:avLst/>
          </a:prstGeom>
          <a:noFill/>
        </p:spPr>
        <p:txBody>
          <a:bodyPr wrap="square" lIns="0" tIns="0" rIns="0" bIns="0" rtlCol="0" anchor="t"/>
          <a:lstStyle/>
          <a:p>
            <a:pPr marL="0" indent="0" algn="l">
              <a:lnSpc>
                <a:spcPts val="27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Chroma features represent the distribution of energy across the 12 pitch classes in Western music (C, C#, D, D#, E, F, F#, G, G#, A, A#, B). They capture </a:t>
            </a:r>
            <a:r>
              <a:rPr lang="en-US" sz="17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harmonic content</a:t>
            </a: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regardless of octave.</a:t>
            </a:r>
            <a:endParaRPr lang="en-US" sz="1700" dirty="0"/>
          </a:p>
        </p:txBody>
      </p:sp>
      <p:sp>
        <p:nvSpPr>
          <p:cNvPr id="7" name="Text 5"/>
          <p:cNvSpPr/>
          <p:nvPr/>
        </p:nvSpPr>
        <p:spPr>
          <a:xfrm>
            <a:off x="1220867" y="3436739"/>
            <a:ext cx="5734169" cy="1406366"/>
          </a:xfrm>
          <a:prstGeom prst="rect">
            <a:avLst/>
          </a:prstGeom>
          <a:noFill/>
        </p:spPr>
        <p:txBody>
          <a:bodyPr wrap="square" lIns="0" tIns="0" rIns="0" bIns="0" rtlCol="0" anchor="t"/>
          <a:lstStyle/>
          <a:p>
            <a:pPr marL="0" indent="0" algn="l">
              <a:lnSpc>
                <a:spcPts val="27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This is particularly useful because instruments playing the same melody have different harmonic structures. A guitar and piano playing middle C will have distinct chroma signatures based on their overtone patterns.</a:t>
            </a:r>
            <a:endParaRPr lang="en-US" sz="1700" dirty="0"/>
          </a:p>
        </p:txBody>
      </p:sp>
      <p:sp>
        <p:nvSpPr>
          <p:cNvPr id="8" name="Shape 6"/>
          <p:cNvSpPr/>
          <p:nvPr/>
        </p:nvSpPr>
        <p:spPr>
          <a:xfrm>
            <a:off x="7425095" y="1593413"/>
            <a:ext cx="6326148" cy="3499961"/>
          </a:xfrm>
          <a:prstGeom prst="roundRect">
            <a:avLst>
              <a:gd name="adj" fmla="val 4180"/>
            </a:avLst>
          </a:prstGeom>
          <a:solidFill>
            <a:srgbClr val="F7F7F7"/>
          </a:solidFill>
          <a:ln w="30480">
            <a:solidFill>
              <a:srgbClr val="CCCCCC"/>
            </a:solidFill>
            <a:prstDash val="solid"/>
          </a:ln>
        </p:spPr>
      </p:sp>
      <p:sp>
        <p:nvSpPr>
          <p:cNvPr id="9" name="Shape 7"/>
          <p:cNvSpPr/>
          <p:nvPr/>
        </p:nvSpPr>
        <p:spPr>
          <a:xfrm>
            <a:off x="7394615" y="1593413"/>
            <a:ext cx="121920" cy="3499961"/>
          </a:xfrm>
          <a:prstGeom prst="roundRect">
            <a:avLst>
              <a:gd name="adj" fmla="val 75716"/>
            </a:avLst>
          </a:prstGeom>
          <a:solidFill>
            <a:srgbClr val="CCCCCC"/>
          </a:solidFill>
        </p:spPr>
      </p:sp>
      <p:sp>
        <p:nvSpPr>
          <p:cNvPr id="10" name="Text 8"/>
          <p:cNvSpPr/>
          <p:nvPr/>
        </p:nvSpPr>
        <p:spPr>
          <a:xfrm>
            <a:off x="7766804" y="1843683"/>
            <a:ext cx="2197894" cy="274677"/>
          </a:xfrm>
          <a:prstGeom prst="rect">
            <a:avLst/>
          </a:prstGeom>
          <a:noFill/>
        </p:spPr>
        <p:txBody>
          <a:bodyPr wrap="none" lIns="0" tIns="0" rIns="0" bIns="0" rtlCol="0" anchor="t"/>
          <a:lstStyle/>
          <a:p>
            <a:pPr marL="0" indent="0" algn="l">
              <a:lnSpc>
                <a:spcPts val="21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Spectral Centroid (1 value)</a:t>
            </a:r>
            <a:endParaRPr lang="en-US" sz="1700" dirty="0"/>
          </a:p>
        </p:txBody>
      </p:sp>
      <p:sp>
        <p:nvSpPr>
          <p:cNvPr id="11" name="Text 9"/>
          <p:cNvSpPr/>
          <p:nvPr/>
        </p:nvSpPr>
        <p:spPr>
          <a:xfrm>
            <a:off x="7766804" y="2250162"/>
            <a:ext cx="5734169" cy="1406366"/>
          </a:xfrm>
          <a:prstGeom prst="rect">
            <a:avLst/>
          </a:prstGeom>
          <a:noFill/>
        </p:spPr>
        <p:txBody>
          <a:bodyPr wrap="square" lIns="0" tIns="0" rIns="0" bIns="0" rtlCol="0" anchor="t"/>
          <a:lstStyle/>
          <a:p>
            <a:pPr marL="0" indent="0" algn="l">
              <a:lnSpc>
                <a:spcPts val="27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Indicates where the "center of mass" of the frequency spectrum lies. </a:t>
            </a:r>
            <a:r>
              <a:rPr lang="en-US" sz="17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Bright sounds</a:t>
            </a: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(like cymbals) have high centroids, while </a:t>
            </a:r>
            <a:r>
              <a:rPr lang="en-US" sz="17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dull sounds</a:t>
            </a: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(like bass drum) have low centroids. This single number captures perceptual brightness.</a:t>
            </a:r>
            <a:endParaRPr lang="en-US" sz="1700" dirty="0"/>
          </a:p>
        </p:txBody>
      </p:sp>
      <p:sp>
        <p:nvSpPr>
          <p:cNvPr id="12" name="Shape 10"/>
          <p:cNvSpPr/>
          <p:nvPr/>
        </p:nvSpPr>
        <p:spPr>
          <a:xfrm>
            <a:off x="879158" y="5313164"/>
            <a:ext cx="6326148" cy="2313384"/>
          </a:xfrm>
          <a:prstGeom prst="roundRect">
            <a:avLst>
              <a:gd name="adj" fmla="val 6324"/>
            </a:avLst>
          </a:prstGeom>
          <a:solidFill>
            <a:srgbClr val="F7F7F7"/>
          </a:solidFill>
          <a:ln w="30480">
            <a:solidFill>
              <a:srgbClr val="E6E6E6"/>
            </a:solidFill>
            <a:prstDash val="solid"/>
          </a:ln>
        </p:spPr>
      </p:sp>
      <p:sp>
        <p:nvSpPr>
          <p:cNvPr id="13" name="Shape 11"/>
          <p:cNvSpPr/>
          <p:nvPr/>
        </p:nvSpPr>
        <p:spPr>
          <a:xfrm>
            <a:off x="848678" y="5313164"/>
            <a:ext cx="121920" cy="2313384"/>
          </a:xfrm>
          <a:prstGeom prst="roundRect">
            <a:avLst>
              <a:gd name="adj" fmla="val 75716"/>
            </a:avLst>
          </a:prstGeom>
          <a:solidFill>
            <a:srgbClr val="E6E6E6"/>
          </a:solidFill>
        </p:spPr>
      </p:sp>
      <p:sp>
        <p:nvSpPr>
          <p:cNvPr id="14" name="Text 12"/>
          <p:cNvSpPr/>
          <p:nvPr/>
        </p:nvSpPr>
        <p:spPr>
          <a:xfrm>
            <a:off x="1220867" y="5563433"/>
            <a:ext cx="2251472" cy="274677"/>
          </a:xfrm>
          <a:prstGeom prst="rect">
            <a:avLst/>
          </a:prstGeom>
          <a:noFill/>
        </p:spPr>
        <p:txBody>
          <a:bodyPr wrap="none" lIns="0" tIns="0" rIns="0" bIns="0" rtlCol="0" anchor="t"/>
          <a:lstStyle/>
          <a:p>
            <a:pPr marL="0" indent="0" algn="l">
              <a:lnSpc>
                <a:spcPts val="21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Spectral Bandwidth (1 value)</a:t>
            </a:r>
            <a:endParaRPr lang="en-US" sz="1700" dirty="0"/>
          </a:p>
        </p:txBody>
      </p:sp>
      <p:sp>
        <p:nvSpPr>
          <p:cNvPr id="15" name="Text 13"/>
          <p:cNvSpPr/>
          <p:nvPr/>
        </p:nvSpPr>
        <p:spPr>
          <a:xfrm>
            <a:off x="1220867" y="5969913"/>
            <a:ext cx="5734169" cy="1054775"/>
          </a:xfrm>
          <a:prstGeom prst="rect">
            <a:avLst/>
          </a:prstGeom>
          <a:noFill/>
        </p:spPr>
        <p:txBody>
          <a:bodyPr wrap="square" lIns="0" tIns="0" rIns="0" bIns="0" rtlCol="0" anchor="t"/>
          <a:lstStyle/>
          <a:p>
            <a:pPr marL="0" indent="0" algn="l">
              <a:lnSpc>
                <a:spcPts val="27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Measures the spread of frequencies around the spectral centroid. </a:t>
            </a:r>
            <a:r>
              <a:rPr lang="en-US" sz="17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Narrow bandwidth</a:t>
            </a: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suggests pure tones (flute), while </a:t>
            </a:r>
            <a:r>
              <a:rPr lang="en-US" sz="17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wide bandwidth</a:t>
            </a: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indicates noisy or complex sounds (snare drum).</a:t>
            </a:r>
            <a:endParaRPr lang="en-US" sz="1700" dirty="0"/>
          </a:p>
        </p:txBody>
      </p:sp>
      <p:sp>
        <p:nvSpPr>
          <p:cNvPr id="16" name="Shape 14"/>
          <p:cNvSpPr/>
          <p:nvPr/>
        </p:nvSpPr>
        <p:spPr>
          <a:xfrm>
            <a:off x="7425095" y="5313164"/>
            <a:ext cx="6326148" cy="2313384"/>
          </a:xfrm>
          <a:prstGeom prst="roundRect">
            <a:avLst>
              <a:gd name="adj" fmla="val 6324"/>
            </a:avLst>
          </a:prstGeom>
          <a:solidFill>
            <a:srgbClr val="F7F7F7"/>
          </a:solidFill>
          <a:ln w="30480">
            <a:solidFill>
              <a:srgbClr val="CCCCCC"/>
            </a:solidFill>
            <a:prstDash val="solid"/>
          </a:ln>
        </p:spPr>
      </p:sp>
      <p:sp>
        <p:nvSpPr>
          <p:cNvPr id="17" name="Shape 15"/>
          <p:cNvSpPr/>
          <p:nvPr/>
        </p:nvSpPr>
        <p:spPr>
          <a:xfrm>
            <a:off x="7394615" y="5313164"/>
            <a:ext cx="121920" cy="2313384"/>
          </a:xfrm>
          <a:prstGeom prst="roundRect">
            <a:avLst>
              <a:gd name="adj" fmla="val 75716"/>
            </a:avLst>
          </a:prstGeom>
          <a:solidFill>
            <a:srgbClr val="CCCCCC"/>
          </a:solidFill>
        </p:spPr>
      </p:sp>
      <p:sp>
        <p:nvSpPr>
          <p:cNvPr id="18" name="Text 16"/>
          <p:cNvSpPr/>
          <p:nvPr/>
        </p:nvSpPr>
        <p:spPr>
          <a:xfrm>
            <a:off x="7766804" y="5563433"/>
            <a:ext cx="2197894" cy="274677"/>
          </a:xfrm>
          <a:prstGeom prst="rect">
            <a:avLst/>
          </a:prstGeom>
          <a:noFill/>
        </p:spPr>
        <p:txBody>
          <a:bodyPr wrap="none" lIns="0" tIns="0" rIns="0" bIns="0" rtlCol="0" anchor="t"/>
          <a:lstStyle/>
          <a:p>
            <a:pPr marL="0" indent="0" algn="l">
              <a:lnSpc>
                <a:spcPts val="21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Spectral Rolloff (1 value)</a:t>
            </a:r>
            <a:endParaRPr lang="en-US" sz="1700" dirty="0"/>
          </a:p>
        </p:txBody>
      </p:sp>
      <p:sp>
        <p:nvSpPr>
          <p:cNvPr id="19" name="Text 17"/>
          <p:cNvSpPr/>
          <p:nvPr/>
        </p:nvSpPr>
        <p:spPr>
          <a:xfrm>
            <a:off x="7766804" y="5969913"/>
            <a:ext cx="5734169" cy="1406366"/>
          </a:xfrm>
          <a:prstGeom prst="rect">
            <a:avLst/>
          </a:prstGeom>
          <a:noFill/>
        </p:spPr>
        <p:txBody>
          <a:bodyPr wrap="square" lIns="0" tIns="0" rIns="0" bIns="0" rtlCol="0" anchor="t"/>
          <a:lstStyle/>
          <a:p>
            <a:pPr marL="0" indent="0" algn="l">
              <a:lnSpc>
                <a:spcPts val="27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 frequency below which 85% of spectral energy resides. Helps distinguish instruments with different energy distributions—percussive instruments have higher rolloff frequencies than sustained melodic ones.</a:t>
            </a:r>
            <a:endParaRPr lang="en-US" sz="1700" dirty="0"/>
          </a:p>
        </p:txBody>
      </p:sp>
      <p:sp>
        <p:nvSpPr>
          <p:cNvPr id="23" name="Rectangles 22"/>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6073" y="777954"/>
            <a:ext cx="7739777" cy="603766"/>
          </a:xfrm>
          <a:prstGeom prst="rect">
            <a:avLst/>
          </a:prstGeom>
          <a:noFill/>
        </p:spPr>
        <p:txBody>
          <a:bodyPr wrap="none" lIns="0" tIns="0" rIns="0" bIns="0" rtlCol="0" anchor="t"/>
          <a:lstStyle/>
          <a:p>
            <a:pPr marL="0" indent="0" algn="l">
              <a:lnSpc>
                <a:spcPts val="4750"/>
              </a:lnSpc>
              <a:buNone/>
            </a:pPr>
            <a:r>
              <a:rPr lang="en-US" sz="38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The Intelligence Behind Audio Understanding</a:t>
            </a:r>
            <a:endParaRPr lang="en-US" sz="3800" dirty="0"/>
          </a:p>
        </p:txBody>
      </p:sp>
      <p:sp>
        <p:nvSpPr>
          <p:cNvPr id="3" name="Text 1"/>
          <p:cNvSpPr/>
          <p:nvPr/>
        </p:nvSpPr>
        <p:spPr>
          <a:xfrm>
            <a:off x="966073" y="1985486"/>
            <a:ext cx="2898458" cy="362188"/>
          </a:xfrm>
          <a:prstGeom prst="rect">
            <a:avLst/>
          </a:prstGeom>
          <a:noFill/>
        </p:spPr>
        <p:txBody>
          <a:bodyPr wrap="none" lIns="0" tIns="0" rIns="0" bIns="0" rtlCol="0" anchor="t"/>
          <a:lstStyle/>
          <a:p>
            <a:pPr marL="0" indent="0" algn="l">
              <a:lnSpc>
                <a:spcPts val="2850"/>
              </a:lnSpc>
              <a:buNone/>
            </a:pPr>
            <a:r>
              <a:rPr lang="en-US" sz="22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Why Machine Learning?</a:t>
            </a:r>
            <a:endParaRPr lang="en-US" sz="2250" dirty="0"/>
          </a:p>
        </p:txBody>
      </p:sp>
      <p:sp>
        <p:nvSpPr>
          <p:cNvPr id="4" name="Text 2"/>
          <p:cNvSpPr/>
          <p:nvPr/>
        </p:nvSpPr>
        <p:spPr>
          <a:xfrm>
            <a:off x="966073" y="2589133"/>
            <a:ext cx="6718935" cy="1545908"/>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After converting sound into numerical features, we need intelligent algorithms capable of understanding complex audio patterns. Raw feature vectors alone cannot distinguish between instruments—we need models that learn relationships.</a:t>
            </a:r>
            <a:endParaRPr lang="en-US" sz="1900" dirty="0"/>
          </a:p>
        </p:txBody>
      </p:sp>
      <p:sp>
        <p:nvSpPr>
          <p:cNvPr id="5" name="Text 3"/>
          <p:cNvSpPr/>
          <p:nvPr/>
        </p:nvSpPr>
        <p:spPr>
          <a:xfrm>
            <a:off x="966073" y="4352330"/>
            <a:ext cx="6718935" cy="1545908"/>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Machine learning algorithms excel at discovering non-obvious patterns in high-dimensional feature spaces. They can identify subtle differences in timbre, frequency distribution, and temporal characteristics that define each instrument's unique sonic signature.</a:t>
            </a:r>
            <a:endParaRPr lang="en-US" sz="1900" dirty="0"/>
          </a:p>
        </p:txBody>
      </p:sp>
      <p:sp>
        <p:nvSpPr>
          <p:cNvPr id="6" name="Shape 4"/>
          <p:cNvSpPr/>
          <p:nvPr/>
        </p:nvSpPr>
        <p:spPr>
          <a:xfrm>
            <a:off x="8281749" y="2015728"/>
            <a:ext cx="543401" cy="543401"/>
          </a:xfrm>
          <a:prstGeom prst="roundRect">
            <a:avLst>
              <a:gd name="adj" fmla="val 18669"/>
            </a:avLst>
          </a:prstGeom>
          <a:solidFill>
            <a:srgbClr val="E6E6E6"/>
          </a:solidFill>
          <a:ln w="7620">
            <a:solidFill>
              <a:srgbClr val="CCCCCC"/>
            </a:solidFill>
            <a:prstDash val="solid"/>
          </a:ln>
        </p:spPr>
      </p:sp>
      <p:sp>
        <p:nvSpPr>
          <p:cNvPr id="7" name="Text 5"/>
          <p:cNvSpPr/>
          <p:nvPr/>
        </p:nvSpPr>
        <p:spPr>
          <a:xfrm>
            <a:off x="9066609" y="2098715"/>
            <a:ext cx="2415302" cy="301943"/>
          </a:xfrm>
          <a:prstGeom prst="rect">
            <a:avLst/>
          </a:prstGeom>
          <a:noFill/>
        </p:spPr>
        <p:txBody>
          <a:bodyPr wrap="none" lIns="0" tIns="0" rIns="0" bIns="0" rtlCol="0" anchor="t"/>
          <a:lstStyle/>
          <a:p>
            <a:pPr marL="0" indent="0" algn="l">
              <a:lnSpc>
                <a:spcPts val="235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Pattern Recognition</a:t>
            </a:r>
            <a:endParaRPr lang="en-US" sz="1900" dirty="0"/>
          </a:p>
        </p:txBody>
      </p:sp>
      <p:sp>
        <p:nvSpPr>
          <p:cNvPr id="8" name="Text 6"/>
          <p:cNvSpPr/>
          <p:nvPr/>
        </p:nvSpPr>
        <p:spPr>
          <a:xfrm>
            <a:off x="9066609" y="2642116"/>
            <a:ext cx="4605338" cy="772954"/>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Learn distinctive characteristics of different instruments from training data</a:t>
            </a:r>
            <a:endParaRPr lang="en-US" sz="1900" dirty="0"/>
          </a:p>
        </p:txBody>
      </p:sp>
      <p:sp>
        <p:nvSpPr>
          <p:cNvPr id="9" name="Shape 7"/>
          <p:cNvSpPr/>
          <p:nvPr/>
        </p:nvSpPr>
        <p:spPr>
          <a:xfrm>
            <a:off x="8281749" y="3898106"/>
            <a:ext cx="543401" cy="543401"/>
          </a:xfrm>
          <a:prstGeom prst="roundRect">
            <a:avLst>
              <a:gd name="adj" fmla="val 18669"/>
            </a:avLst>
          </a:prstGeom>
          <a:solidFill>
            <a:srgbClr val="E6E6E6"/>
          </a:solidFill>
          <a:ln w="7620">
            <a:solidFill>
              <a:srgbClr val="CCCCCC"/>
            </a:solidFill>
            <a:prstDash val="solid"/>
          </a:ln>
        </p:spPr>
      </p:sp>
      <p:sp>
        <p:nvSpPr>
          <p:cNvPr id="10" name="Text 8"/>
          <p:cNvSpPr/>
          <p:nvPr/>
        </p:nvSpPr>
        <p:spPr>
          <a:xfrm>
            <a:off x="9066609" y="3981093"/>
            <a:ext cx="2415302" cy="301943"/>
          </a:xfrm>
          <a:prstGeom prst="rect">
            <a:avLst/>
          </a:prstGeom>
          <a:noFill/>
        </p:spPr>
        <p:txBody>
          <a:bodyPr wrap="none" lIns="0" tIns="0" rIns="0" bIns="0" rtlCol="0" anchor="t"/>
          <a:lstStyle/>
          <a:p>
            <a:pPr marL="0" indent="0" algn="l">
              <a:lnSpc>
                <a:spcPts val="235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Generalization</a:t>
            </a:r>
            <a:endParaRPr lang="en-US" sz="1900" dirty="0"/>
          </a:p>
        </p:txBody>
      </p:sp>
      <p:sp>
        <p:nvSpPr>
          <p:cNvPr id="11" name="Text 9"/>
          <p:cNvSpPr/>
          <p:nvPr/>
        </p:nvSpPr>
        <p:spPr>
          <a:xfrm>
            <a:off x="9066609" y="4524494"/>
            <a:ext cx="4605338" cy="772954"/>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Classify previously unseen audio samples with confidence</a:t>
            </a:r>
            <a:endParaRPr lang="en-US" sz="1900" dirty="0"/>
          </a:p>
        </p:txBody>
      </p:sp>
      <p:sp>
        <p:nvSpPr>
          <p:cNvPr id="12" name="Shape 10"/>
          <p:cNvSpPr/>
          <p:nvPr/>
        </p:nvSpPr>
        <p:spPr>
          <a:xfrm>
            <a:off x="8281749" y="5780484"/>
            <a:ext cx="543401" cy="543401"/>
          </a:xfrm>
          <a:prstGeom prst="roundRect">
            <a:avLst>
              <a:gd name="adj" fmla="val 18669"/>
            </a:avLst>
          </a:prstGeom>
          <a:solidFill>
            <a:srgbClr val="E6E6E6"/>
          </a:solidFill>
          <a:ln w="7620">
            <a:solidFill>
              <a:srgbClr val="CCCCCC"/>
            </a:solidFill>
            <a:prstDash val="solid"/>
          </a:ln>
        </p:spPr>
      </p:sp>
      <p:sp>
        <p:nvSpPr>
          <p:cNvPr id="13" name="Text 11"/>
          <p:cNvSpPr/>
          <p:nvPr/>
        </p:nvSpPr>
        <p:spPr>
          <a:xfrm>
            <a:off x="9066609" y="5863471"/>
            <a:ext cx="2415302" cy="301943"/>
          </a:xfrm>
          <a:prstGeom prst="rect">
            <a:avLst/>
          </a:prstGeom>
          <a:noFill/>
        </p:spPr>
        <p:txBody>
          <a:bodyPr wrap="none" lIns="0" tIns="0" rIns="0" bIns="0" rtlCol="0" anchor="t"/>
          <a:lstStyle/>
          <a:p>
            <a:pPr marL="0" indent="0" algn="l">
              <a:lnSpc>
                <a:spcPts val="235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Robustness</a:t>
            </a:r>
            <a:endParaRPr lang="en-US" sz="1900" dirty="0"/>
          </a:p>
        </p:txBody>
      </p:sp>
      <p:sp>
        <p:nvSpPr>
          <p:cNvPr id="14" name="Text 12"/>
          <p:cNvSpPr/>
          <p:nvPr/>
        </p:nvSpPr>
        <p:spPr>
          <a:xfrm>
            <a:off x="9066609" y="6406872"/>
            <a:ext cx="4605338" cy="772954"/>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Handle variations in recording quality and playing style</a:t>
            </a:r>
            <a:endParaRPr lang="en-US" sz="1900" dirty="0"/>
          </a:p>
        </p:txBody>
      </p:sp>
      <p:sp>
        <p:nvSpPr>
          <p:cNvPr id="23" name="Rectangles 22"/>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9882" y="659844"/>
            <a:ext cx="7100888" cy="599837"/>
          </a:xfrm>
          <a:prstGeom prst="rect">
            <a:avLst/>
          </a:prstGeom>
          <a:noFill/>
        </p:spPr>
        <p:txBody>
          <a:bodyPr wrap="none" lIns="0" tIns="0" rIns="0" bIns="0" rtlCol="0" anchor="t"/>
          <a:lstStyle/>
          <a:p>
            <a:pPr marL="0" indent="0" algn="l">
              <a:lnSpc>
                <a:spcPts val="4700"/>
              </a:lnSpc>
              <a:buNone/>
            </a:pPr>
            <a:r>
              <a:rPr lang="en-US" sz="37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Model Selection: A Classical ML Approach</a:t>
            </a:r>
            <a:endParaRPr lang="en-US" sz="3750" dirty="0"/>
          </a:p>
        </p:txBody>
      </p:sp>
      <p:sp>
        <p:nvSpPr>
          <p:cNvPr id="3" name="Text 1"/>
          <p:cNvSpPr/>
          <p:nvPr/>
        </p:nvSpPr>
        <p:spPr>
          <a:xfrm>
            <a:off x="959882" y="1739622"/>
            <a:ext cx="12710636" cy="767953"/>
          </a:xfrm>
          <a:prstGeom prst="rect">
            <a:avLst/>
          </a:prstGeom>
          <a:noFill/>
        </p:spPr>
        <p:txBody>
          <a:bodyPr wrap="squar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We deliberately chose traditional machine learning models over deep learning to understand fundamental classification mechanics and maintain interpretability. This approach allows for faster experimentation, clearer hyperparameter tuning, and reduced computational requirements.</a:t>
            </a:r>
            <a:endParaRPr lang="en-US" sz="1850" dirty="0"/>
          </a:p>
        </p:txBody>
      </p:sp>
      <p:sp>
        <p:nvSpPr>
          <p:cNvPr id="4" name="Text 2"/>
          <p:cNvSpPr/>
          <p:nvPr/>
        </p:nvSpPr>
        <p:spPr>
          <a:xfrm>
            <a:off x="959882" y="2777490"/>
            <a:ext cx="239911" cy="299918"/>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Light" pitchFamily="34" charset="0"/>
                <a:ea typeface="Patrick Hand Light" pitchFamily="34" charset="-122"/>
                <a:cs typeface="Patrick Hand Light" pitchFamily="34" charset="-120"/>
              </a:rPr>
              <a:t>01</a:t>
            </a:r>
            <a:endParaRPr lang="en-US" sz="1850" dirty="0"/>
          </a:p>
        </p:txBody>
      </p:sp>
      <p:sp>
        <p:nvSpPr>
          <p:cNvPr id="5" name="Shape 3"/>
          <p:cNvSpPr/>
          <p:nvPr/>
        </p:nvSpPr>
        <p:spPr>
          <a:xfrm>
            <a:off x="959882" y="3154799"/>
            <a:ext cx="4076938" cy="30480"/>
          </a:xfrm>
          <a:prstGeom prst="rect">
            <a:avLst/>
          </a:prstGeom>
          <a:solidFill>
            <a:srgbClr val="CCCCCC"/>
          </a:solidFill>
        </p:spPr>
      </p:sp>
      <p:sp>
        <p:nvSpPr>
          <p:cNvPr id="6" name="Text 4"/>
          <p:cNvSpPr/>
          <p:nvPr/>
        </p:nvSpPr>
        <p:spPr>
          <a:xfrm>
            <a:off x="959882" y="3335655"/>
            <a:ext cx="2399824" cy="300038"/>
          </a:xfrm>
          <a:prstGeom prst="rect">
            <a:avLst/>
          </a:prstGeom>
          <a:noFill/>
        </p:spPr>
        <p:txBody>
          <a:bodyPr wrap="none" lIns="0" tIns="0" rIns="0" bIns="0" rtlCol="0" anchor="t"/>
          <a:lstStyle/>
          <a:p>
            <a:pPr marL="0" indent="0" algn="l">
              <a:lnSpc>
                <a:spcPts val="235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Logistic Regression</a:t>
            </a:r>
            <a:endParaRPr lang="en-US" sz="1850" dirty="0"/>
          </a:p>
        </p:txBody>
      </p:sp>
      <p:sp>
        <p:nvSpPr>
          <p:cNvPr id="7" name="Text 5"/>
          <p:cNvSpPr/>
          <p:nvPr/>
        </p:nvSpPr>
        <p:spPr>
          <a:xfrm>
            <a:off x="959882" y="3779639"/>
            <a:ext cx="4076938" cy="767953"/>
          </a:xfrm>
          <a:prstGeom prst="rect">
            <a:avLst/>
          </a:prstGeom>
          <a:noFill/>
        </p:spPr>
        <p:txBody>
          <a:bodyPr wrap="squar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Linear baseline for probability-based classification</a:t>
            </a:r>
            <a:endParaRPr lang="en-US" sz="1850" dirty="0"/>
          </a:p>
        </p:txBody>
      </p:sp>
      <p:sp>
        <p:nvSpPr>
          <p:cNvPr id="8" name="Text 6"/>
          <p:cNvSpPr/>
          <p:nvPr/>
        </p:nvSpPr>
        <p:spPr>
          <a:xfrm>
            <a:off x="5276731" y="2777490"/>
            <a:ext cx="239911" cy="299918"/>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Light" pitchFamily="34" charset="0"/>
                <a:ea typeface="Patrick Hand Light" pitchFamily="34" charset="-122"/>
                <a:cs typeface="Patrick Hand Light" pitchFamily="34" charset="-120"/>
              </a:rPr>
              <a:t>02</a:t>
            </a:r>
            <a:endParaRPr lang="en-US" sz="1850" dirty="0"/>
          </a:p>
        </p:txBody>
      </p:sp>
      <p:sp>
        <p:nvSpPr>
          <p:cNvPr id="9" name="Shape 7"/>
          <p:cNvSpPr/>
          <p:nvPr/>
        </p:nvSpPr>
        <p:spPr>
          <a:xfrm>
            <a:off x="5276731" y="3154799"/>
            <a:ext cx="4076938" cy="30480"/>
          </a:xfrm>
          <a:prstGeom prst="rect">
            <a:avLst/>
          </a:prstGeom>
          <a:solidFill>
            <a:srgbClr val="CCCCCC"/>
          </a:solidFill>
        </p:spPr>
      </p:sp>
      <p:sp>
        <p:nvSpPr>
          <p:cNvPr id="10" name="Text 8"/>
          <p:cNvSpPr/>
          <p:nvPr/>
        </p:nvSpPr>
        <p:spPr>
          <a:xfrm>
            <a:off x="5276731" y="3335655"/>
            <a:ext cx="2399824" cy="300038"/>
          </a:xfrm>
          <a:prstGeom prst="rect">
            <a:avLst/>
          </a:prstGeom>
          <a:noFill/>
        </p:spPr>
        <p:txBody>
          <a:bodyPr wrap="none" lIns="0" tIns="0" rIns="0" bIns="0" rtlCol="0" anchor="t"/>
          <a:lstStyle/>
          <a:p>
            <a:pPr marL="0" indent="0" algn="l">
              <a:lnSpc>
                <a:spcPts val="235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k-Nearest Neighbors</a:t>
            </a:r>
            <a:endParaRPr lang="en-US" sz="1850" dirty="0"/>
          </a:p>
        </p:txBody>
      </p:sp>
      <p:sp>
        <p:nvSpPr>
          <p:cNvPr id="11" name="Text 9"/>
          <p:cNvSpPr/>
          <p:nvPr/>
        </p:nvSpPr>
        <p:spPr>
          <a:xfrm>
            <a:off x="5276731" y="3779639"/>
            <a:ext cx="4076938" cy="767953"/>
          </a:xfrm>
          <a:prstGeom prst="rect">
            <a:avLst/>
          </a:prstGeom>
          <a:noFill/>
        </p:spPr>
        <p:txBody>
          <a:bodyPr wrap="squar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Instance-based learning using similarity metrics</a:t>
            </a:r>
            <a:endParaRPr lang="en-US" sz="1850" dirty="0"/>
          </a:p>
        </p:txBody>
      </p:sp>
      <p:sp>
        <p:nvSpPr>
          <p:cNvPr id="12" name="Text 10"/>
          <p:cNvSpPr/>
          <p:nvPr/>
        </p:nvSpPr>
        <p:spPr>
          <a:xfrm>
            <a:off x="9593580" y="2777490"/>
            <a:ext cx="239911" cy="299918"/>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Light" pitchFamily="34" charset="0"/>
                <a:ea typeface="Patrick Hand Light" pitchFamily="34" charset="-122"/>
                <a:cs typeface="Patrick Hand Light" pitchFamily="34" charset="-120"/>
              </a:rPr>
              <a:t>03</a:t>
            </a:r>
            <a:endParaRPr lang="en-US" sz="1850" dirty="0"/>
          </a:p>
        </p:txBody>
      </p:sp>
      <p:sp>
        <p:nvSpPr>
          <p:cNvPr id="13" name="Shape 11"/>
          <p:cNvSpPr/>
          <p:nvPr/>
        </p:nvSpPr>
        <p:spPr>
          <a:xfrm>
            <a:off x="9593580" y="3154799"/>
            <a:ext cx="4076938" cy="30480"/>
          </a:xfrm>
          <a:prstGeom prst="rect">
            <a:avLst/>
          </a:prstGeom>
          <a:solidFill>
            <a:srgbClr val="CCCCCC"/>
          </a:solidFill>
        </p:spPr>
      </p:sp>
      <p:sp>
        <p:nvSpPr>
          <p:cNvPr id="14" name="Text 12"/>
          <p:cNvSpPr/>
          <p:nvPr/>
        </p:nvSpPr>
        <p:spPr>
          <a:xfrm>
            <a:off x="9593580" y="3335655"/>
            <a:ext cx="2399824" cy="300038"/>
          </a:xfrm>
          <a:prstGeom prst="rect">
            <a:avLst/>
          </a:prstGeom>
          <a:noFill/>
        </p:spPr>
        <p:txBody>
          <a:bodyPr wrap="none" lIns="0" tIns="0" rIns="0" bIns="0" rtlCol="0" anchor="t"/>
          <a:lstStyle/>
          <a:p>
            <a:pPr marL="0" indent="0" algn="l">
              <a:lnSpc>
                <a:spcPts val="235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Naive Bayes</a:t>
            </a:r>
            <a:endParaRPr lang="en-US" sz="1850" dirty="0"/>
          </a:p>
        </p:txBody>
      </p:sp>
      <p:sp>
        <p:nvSpPr>
          <p:cNvPr id="15" name="Text 13"/>
          <p:cNvSpPr/>
          <p:nvPr/>
        </p:nvSpPr>
        <p:spPr>
          <a:xfrm>
            <a:off x="9593580" y="3779639"/>
            <a:ext cx="4076938" cy="767953"/>
          </a:xfrm>
          <a:prstGeom prst="rect">
            <a:avLst/>
          </a:prstGeom>
          <a:noFill/>
        </p:spPr>
        <p:txBody>
          <a:bodyPr wrap="squar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Probabilistic classifier with independence assumptions</a:t>
            </a:r>
            <a:endParaRPr lang="en-US" sz="1850" dirty="0"/>
          </a:p>
        </p:txBody>
      </p:sp>
      <p:sp>
        <p:nvSpPr>
          <p:cNvPr id="16" name="Text 14"/>
          <p:cNvSpPr/>
          <p:nvPr/>
        </p:nvSpPr>
        <p:spPr>
          <a:xfrm>
            <a:off x="959882" y="4967407"/>
            <a:ext cx="239911" cy="299918"/>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Light" pitchFamily="34" charset="0"/>
                <a:ea typeface="Patrick Hand Light" pitchFamily="34" charset="-122"/>
                <a:cs typeface="Patrick Hand Light" pitchFamily="34" charset="-120"/>
              </a:rPr>
              <a:t>04</a:t>
            </a:r>
            <a:endParaRPr lang="en-US" sz="1850" dirty="0"/>
          </a:p>
        </p:txBody>
      </p:sp>
      <p:sp>
        <p:nvSpPr>
          <p:cNvPr id="17" name="Shape 15"/>
          <p:cNvSpPr/>
          <p:nvPr/>
        </p:nvSpPr>
        <p:spPr>
          <a:xfrm>
            <a:off x="959882" y="5344716"/>
            <a:ext cx="6235303" cy="30480"/>
          </a:xfrm>
          <a:prstGeom prst="rect">
            <a:avLst/>
          </a:prstGeom>
          <a:solidFill>
            <a:srgbClr val="CCCCCC"/>
          </a:solidFill>
        </p:spPr>
      </p:sp>
      <p:sp>
        <p:nvSpPr>
          <p:cNvPr id="18" name="Text 16"/>
          <p:cNvSpPr/>
          <p:nvPr/>
        </p:nvSpPr>
        <p:spPr>
          <a:xfrm>
            <a:off x="959882" y="5525572"/>
            <a:ext cx="2399824" cy="300038"/>
          </a:xfrm>
          <a:prstGeom prst="rect">
            <a:avLst/>
          </a:prstGeom>
          <a:noFill/>
        </p:spPr>
        <p:txBody>
          <a:bodyPr wrap="none" lIns="0" tIns="0" rIns="0" bIns="0" rtlCol="0" anchor="t"/>
          <a:lstStyle/>
          <a:p>
            <a:pPr marL="0" indent="0" algn="l">
              <a:lnSpc>
                <a:spcPts val="235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Support Vector Machine</a:t>
            </a:r>
            <a:endParaRPr lang="en-US" sz="1850" dirty="0"/>
          </a:p>
        </p:txBody>
      </p:sp>
      <p:sp>
        <p:nvSpPr>
          <p:cNvPr id="19" name="Text 17"/>
          <p:cNvSpPr/>
          <p:nvPr/>
        </p:nvSpPr>
        <p:spPr>
          <a:xfrm>
            <a:off x="959882" y="5969556"/>
            <a:ext cx="6235303" cy="383977"/>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Margin-maximizing classifier with kernel flexibility</a:t>
            </a:r>
            <a:endParaRPr lang="en-US" sz="1850" dirty="0"/>
          </a:p>
        </p:txBody>
      </p:sp>
      <p:sp>
        <p:nvSpPr>
          <p:cNvPr id="20" name="Text 18"/>
          <p:cNvSpPr/>
          <p:nvPr/>
        </p:nvSpPr>
        <p:spPr>
          <a:xfrm>
            <a:off x="7435096" y="4967407"/>
            <a:ext cx="239911" cy="299918"/>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Light" pitchFamily="34" charset="0"/>
                <a:ea typeface="Patrick Hand Light" pitchFamily="34" charset="-122"/>
                <a:cs typeface="Patrick Hand Light" pitchFamily="34" charset="-120"/>
              </a:rPr>
              <a:t>05</a:t>
            </a:r>
            <a:endParaRPr lang="en-US" sz="1850" dirty="0"/>
          </a:p>
        </p:txBody>
      </p:sp>
      <p:sp>
        <p:nvSpPr>
          <p:cNvPr id="21" name="Shape 19"/>
          <p:cNvSpPr/>
          <p:nvPr/>
        </p:nvSpPr>
        <p:spPr>
          <a:xfrm>
            <a:off x="7435096" y="5344716"/>
            <a:ext cx="6235422" cy="30480"/>
          </a:xfrm>
          <a:prstGeom prst="rect">
            <a:avLst/>
          </a:prstGeom>
          <a:solidFill>
            <a:srgbClr val="CCCCCC"/>
          </a:solidFill>
        </p:spPr>
      </p:sp>
      <p:sp>
        <p:nvSpPr>
          <p:cNvPr id="22" name="Text 20"/>
          <p:cNvSpPr/>
          <p:nvPr/>
        </p:nvSpPr>
        <p:spPr>
          <a:xfrm>
            <a:off x="7435096" y="5525572"/>
            <a:ext cx="2399824" cy="300038"/>
          </a:xfrm>
          <a:prstGeom prst="rect">
            <a:avLst/>
          </a:prstGeom>
          <a:noFill/>
        </p:spPr>
        <p:txBody>
          <a:bodyPr wrap="none" lIns="0" tIns="0" rIns="0" bIns="0" rtlCol="0" anchor="t"/>
          <a:lstStyle/>
          <a:p>
            <a:pPr marL="0" indent="0" algn="l">
              <a:lnSpc>
                <a:spcPts val="235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Random Forest</a:t>
            </a:r>
            <a:endParaRPr lang="en-US" sz="1850" dirty="0"/>
          </a:p>
        </p:txBody>
      </p:sp>
      <p:sp>
        <p:nvSpPr>
          <p:cNvPr id="23" name="Text 21"/>
          <p:cNvSpPr/>
          <p:nvPr/>
        </p:nvSpPr>
        <p:spPr>
          <a:xfrm>
            <a:off x="7435096" y="5969556"/>
            <a:ext cx="6235422" cy="383977"/>
          </a:xfrm>
          <a:prstGeom prst="rect">
            <a:avLst/>
          </a:prstGeom>
          <a:noFill/>
        </p:spPr>
        <p:txBody>
          <a:bodyPr wrap="non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Ensemble method combining multiple decision trees</a:t>
            </a:r>
            <a:endParaRPr lang="en-US" sz="1850" dirty="0"/>
          </a:p>
        </p:txBody>
      </p:sp>
      <p:sp>
        <p:nvSpPr>
          <p:cNvPr id="24" name="Text 22"/>
          <p:cNvSpPr/>
          <p:nvPr/>
        </p:nvSpPr>
        <p:spPr>
          <a:xfrm>
            <a:off x="959882" y="6803350"/>
            <a:ext cx="12710636" cy="767953"/>
          </a:xfrm>
          <a:prstGeom prst="rect">
            <a:avLst/>
          </a:prstGeom>
          <a:noFill/>
        </p:spPr>
        <p:txBody>
          <a:bodyPr wrap="square" lIns="0" tIns="0" rIns="0" bIns="0" rtlCol="0" anchor="t"/>
          <a:lstStyle/>
          <a:p>
            <a:pPr marL="0" indent="0" algn="l">
              <a:lnSpc>
                <a:spcPts val="3000"/>
              </a:lnSpc>
              <a:buNone/>
            </a:pPr>
            <a:r>
              <a:rPr lang="en-US" sz="1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Each model brings unique strengths to audio classification, from computational efficiency to pattern complexity handling. Our systematic comparison reveals which classical approaches work best for this domain.</a:t>
            </a:r>
            <a:endParaRPr lang="en-US" sz="1850" dirty="0"/>
          </a:p>
        </p:txBody>
      </p:sp>
      <p:sp>
        <p:nvSpPr>
          <p:cNvPr id="25" name="Rectangles 24"/>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9853" y="501729"/>
            <a:ext cx="4357330" cy="456128"/>
          </a:xfrm>
          <a:prstGeom prst="rect">
            <a:avLst/>
          </a:prstGeom>
          <a:noFill/>
        </p:spPr>
        <p:txBody>
          <a:bodyPr wrap="none" lIns="0" tIns="0" rIns="0" bIns="0" rtlCol="0" anchor="t"/>
          <a:lstStyle/>
          <a:p>
            <a:pPr marL="0" indent="0" algn="l">
              <a:lnSpc>
                <a:spcPts val="3550"/>
              </a:lnSpc>
              <a:buNone/>
            </a:pPr>
            <a:r>
              <a:rPr lang="en-US" sz="28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Logistic Regression: The Baseline</a:t>
            </a:r>
            <a:endParaRPr lang="en-US" sz="2850" dirty="0"/>
          </a:p>
        </p:txBody>
      </p:sp>
      <p:sp>
        <p:nvSpPr>
          <p:cNvPr id="4" name="Text 1"/>
          <p:cNvSpPr/>
          <p:nvPr/>
        </p:nvSpPr>
        <p:spPr>
          <a:xfrm>
            <a:off x="6047542" y="1413986"/>
            <a:ext cx="2189798" cy="273606"/>
          </a:xfrm>
          <a:prstGeom prst="rect">
            <a:avLst/>
          </a:prstGeom>
          <a:noFill/>
        </p:spPr>
        <p:txBody>
          <a:bodyPr wrap="none" lIns="0" tIns="0" rIns="0" bIns="0" rtlCol="0" anchor="t"/>
          <a:lstStyle/>
          <a:p>
            <a:pPr marL="0" indent="0" algn="l">
              <a:lnSpc>
                <a:spcPts val="2150"/>
              </a:lnSpc>
              <a:buNone/>
            </a:pPr>
            <a:r>
              <a:rPr lang="en-US" sz="17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How It Works</a:t>
            </a:r>
            <a:endParaRPr lang="en-US" sz="1700" dirty="0"/>
          </a:p>
        </p:txBody>
      </p:sp>
      <p:sp>
        <p:nvSpPr>
          <p:cNvPr id="5" name="Text 2"/>
          <p:cNvSpPr/>
          <p:nvPr/>
        </p:nvSpPr>
        <p:spPr>
          <a:xfrm>
            <a:off x="6047740" y="1870075"/>
            <a:ext cx="7860665" cy="5829300"/>
          </a:xfrm>
          <a:prstGeom prst="rect">
            <a:avLst/>
          </a:prstGeom>
          <a:noFill/>
        </p:spPr>
        <p:txBody>
          <a:bodyPr wrap="square" lIns="0" tIns="0" rIns="0" bIns="0" rtlCol="0" anchor="t"/>
          <a:lstStyle/>
          <a:p>
            <a:pPr marL="0" indent="0" algn="l">
              <a:lnSpc>
                <a:spcPts val="2250"/>
              </a:lnSpc>
              <a:buNone/>
            </a:pPr>
            <a:r>
              <a:rPr lang="en-US" altLang="en-US" dirty="0"/>
              <a:t>In our project, Logistic Regression is used as a baseline classification model to identify musical instruments from audio features. After converting raw audio signals into numerical features such as MFCCs, chroma, and spectral features, each audio sample becomes a feature vector. </a:t>
            </a:r>
            <a:endParaRPr lang="en-US" altLang="en-US" dirty="0"/>
          </a:p>
          <a:p>
            <a:pPr marL="0" indent="0" algn="l">
              <a:lnSpc>
                <a:spcPts val="2250"/>
              </a:lnSpc>
              <a:buNone/>
            </a:pPr>
            <a:endParaRPr lang="en-US" altLang="en-US" dirty="0"/>
          </a:p>
          <a:p>
            <a:pPr marL="0" indent="0" algn="l">
              <a:lnSpc>
                <a:spcPts val="2250"/>
              </a:lnSpc>
              <a:buNone/>
            </a:pPr>
            <a:r>
              <a:rPr lang="en-US" altLang="en-US" dirty="0"/>
              <a:t>Logistic Regression then learns a linear relationship between these features and the instrument classes. It applies the softmax function to calculate the probability of each instrument and assigns the class with the highest probability as the prediction.</a:t>
            </a:r>
            <a:endParaRPr lang="en-US" altLang="en-US" dirty="0"/>
          </a:p>
          <a:p>
            <a:pPr marL="0" indent="0" algn="l">
              <a:lnSpc>
                <a:spcPts val="2250"/>
              </a:lnSpc>
              <a:buNone/>
            </a:pPr>
            <a:endParaRPr lang="en-US" altLang="en-US" dirty="0"/>
          </a:p>
          <a:p>
            <a:pPr marL="0" indent="0" algn="l">
              <a:lnSpc>
                <a:spcPts val="2250"/>
              </a:lnSpc>
              <a:buNone/>
            </a:pPr>
            <a:r>
              <a:rPr lang="en-US" altLang="en-US" dirty="0"/>
              <a:t> Since Logistic Regression assumes linear decision boundaries, it performs reasonably well but struggles to fully capture the complex and non-linear timbre patterns of musical instruments. </a:t>
            </a:r>
            <a:endParaRPr lang="en-US" altLang="en-US" dirty="0"/>
          </a:p>
          <a:p>
            <a:pPr marL="0" indent="0" algn="l">
              <a:lnSpc>
                <a:spcPts val="2250"/>
              </a:lnSpc>
              <a:buNone/>
            </a:pPr>
            <a:endParaRPr lang="en-US" altLang="en-US" dirty="0"/>
          </a:p>
          <a:p>
            <a:pPr marL="0" indent="0" algn="l">
              <a:lnSpc>
                <a:spcPts val="2250"/>
              </a:lnSpc>
              <a:buNone/>
            </a:pPr>
            <a:r>
              <a:rPr lang="en-US" altLang="en-US" dirty="0"/>
              <a:t>This is why it achieves lower accuracy compared to ensemble models like Random Forest, but it is still useful for understanding the dataset and comparing model performance.</a:t>
            </a:r>
            <a:endParaRPr lang="en-US" altLang="en-US" dirty="0"/>
          </a:p>
        </p:txBody>
      </p:sp>
      <p:pic>
        <p:nvPicPr>
          <p:cNvPr id="19" name="Picture 18" descr="450101_2KAInY20QPhkLCJ8jWVLJw"/>
          <p:cNvPicPr>
            <a:picLocks noChangeAspect="1"/>
          </p:cNvPicPr>
          <p:nvPr/>
        </p:nvPicPr>
        <p:blipFill>
          <a:blip r:embed="rId1"/>
          <a:stretch>
            <a:fillRect/>
          </a:stretch>
        </p:blipFill>
        <p:spPr>
          <a:xfrm>
            <a:off x="299720" y="2324735"/>
            <a:ext cx="5224780" cy="4457700"/>
          </a:xfrm>
          <a:prstGeom prst="rect">
            <a:avLst/>
          </a:prstGeom>
        </p:spPr>
      </p:pic>
      <p:sp>
        <p:nvSpPr>
          <p:cNvPr id="20" name="Text Box 19"/>
          <p:cNvSpPr txBox="1"/>
          <p:nvPr/>
        </p:nvSpPr>
        <p:spPr>
          <a:xfrm>
            <a:off x="6296660" y="2082800"/>
            <a:ext cx="4876800" cy="368300"/>
          </a:xfrm>
          <a:prstGeom prst="rect">
            <a:avLst/>
          </a:prstGeom>
          <a:noFill/>
        </p:spPr>
        <p:txBody>
          <a:bodyPr wrap="square" rtlCol="0">
            <a:spAutoFit/>
          </a:bodyPr>
          <a:p>
            <a:endParaRPr lang="en-US"/>
          </a:p>
        </p:txBody>
      </p:sp>
      <p:sp>
        <p:nvSpPr>
          <p:cNvPr id="21" name="Rectangles 20"/>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6073" y="719852"/>
            <a:ext cx="9301996" cy="603766"/>
          </a:xfrm>
          <a:prstGeom prst="rect">
            <a:avLst/>
          </a:prstGeom>
          <a:noFill/>
        </p:spPr>
        <p:txBody>
          <a:bodyPr wrap="none" lIns="0" tIns="0" rIns="0" bIns="0" rtlCol="0" anchor="t"/>
          <a:lstStyle/>
          <a:p>
            <a:pPr marL="0" indent="0" algn="l">
              <a:lnSpc>
                <a:spcPts val="4750"/>
              </a:lnSpc>
              <a:buNone/>
            </a:pPr>
            <a:r>
              <a:rPr lang="en-US" sz="38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k-Nearest Neighbors: Similarity-Based Classification</a:t>
            </a:r>
            <a:endParaRPr lang="en-US" sz="3800" dirty="0"/>
          </a:p>
        </p:txBody>
      </p:sp>
      <p:sp>
        <p:nvSpPr>
          <p:cNvPr id="3" name="Text 1"/>
          <p:cNvSpPr/>
          <p:nvPr/>
        </p:nvSpPr>
        <p:spPr>
          <a:xfrm>
            <a:off x="966073" y="1420178"/>
            <a:ext cx="3601879" cy="362188"/>
          </a:xfrm>
          <a:prstGeom prst="rect">
            <a:avLst/>
          </a:prstGeom>
          <a:noFill/>
        </p:spPr>
        <p:txBody>
          <a:bodyPr wrap="none" lIns="0" tIns="0" rIns="0" bIns="0" rtlCol="0" anchor="t"/>
          <a:lstStyle/>
          <a:p>
            <a:pPr marL="0" indent="0" algn="l">
              <a:lnSpc>
                <a:spcPts val="2850"/>
              </a:lnSpc>
              <a:buNone/>
            </a:pPr>
            <a:r>
              <a:rPr lang="en-US" sz="22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Instance-Based Learning Approach</a:t>
            </a:r>
            <a:endParaRPr lang="en-US" sz="2250" dirty="0"/>
          </a:p>
        </p:txBody>
      </p:sp>
      <p:sp>
        <p:nvSpPr>
          <p:cNvPr id="4" name="Text 2"/>
          <p:cNvSpPr/>
          <p:nvPr/>
        </p:nvSpPr>
        <p:spPr>
          <a:xfrm>
            <a:off x="966073" y="2144673"/>
            <a:ext cx="12698254" cy="1159431"/>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k-NN operates without a traditional training phase, instead memorizing the entire training set. During prediction, it identifies the k most similar audio samples based on feature distance and assigns the majority class. This lazy learning approach makes it sensitive to the distance metric and neighborhood size.</a:t>
            </a:r>
            <a:endParaRPr lang="en-US" sz="1900" dirty="0"/>
          </a:p>
        </p:txBody>
      </p:sp>
      <p:sp>
        <p:nvSpPr>
          <p:cNvPr id="5" name="Text 3"/>
          <p:cNvSpPr/>
          <p:nvPr/>
        </p:nvSpPr>
        <p:spPr>
          <a:xfrm>
            <a:off x="966073" y="3817263"/>
            <a:ext cx="2896314" cy="301943"/>
          </a:xfrm>
          <a:prstGeom prst="rect">
            <a:avLst/>
          </a:prstGeom>
          <a:noFill/>
        </p:spPr>
        <p:txBody>
          <a:bodyPr wrap="none" lIns="0" tIns="0" rIns="0" bIns="0" rtlCol="0" anchor="t"/>
          <a:lstStyle/>
          <a:p>
            <a:pPr marL="0" indent="0" algn="l">
              <a:lnSpc>
                <a:spcPts val="235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Hyperparameter Tuning Strategy</a:t>
            </a:r>
            <a:endParaRPr lang="en-US" sz="1900" dirty="0"/>
          </a:p>
        </p:txBody>
      </p:sp>
      <p:sp>
        <p:nvSpPr>
          <p:cNvPr id="6" name="Text 4"/>
          <p:cNvSpPr/>
          <p:nvPr/>
        </p:nvSpPr>
        <p:spPr>
          <a:xfrm>
            <a:off x="966073" y="4360664"/>
            <a:ext cx="6054566" cy="1159431"/>
          </a:xfrm>
          <a:prstGeom prst="rect">
            <a:avLst/>
          </a:prstGeom>
          <a:noFill/>
        </p:spPr>
        <p:txBody>
          <a:bodyPr wrap="square" lIns="0" tIns="0" rIns="0" bIns="0" rtlCol="0" anchor="t"/>
          <a:lstStyle/>
          <a:p>
            <a:pPr marL="0" indent="0" algn="l">
              <a:lnSpc>
                <a:spcPts val="3000"/>
              </a:lnSpc>
              <a:buNone/>
            </a:pP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We systematically explored k values from 1 to 100 with step size of 5, plotting accuracy at each point. This revealed the optimal balance between local noise sensitivity and boundary smoothness.</a:t>
            </a:r>
            <a:endParaRPr lang="en-US" sz="1900" dirty="0"/>
          </a:p>
        </p:txBody>
      </p:sp>
      <p:sp>
        <p:nvSpPr>
          <p:cNvPr id="7" name="Text 5"/>
          <p:cNvSpPr/>
          <p:nvPr/>
        </p:nvSpPr>
        <p:spPr>
          <a:xfrm>
            <a:off x="966073" y="5737384"/>
            <a:ext cx="6054566" cy="386477"/>
          </a:xfrm>
          <a:prstGeom prst="rect">
            <a:avLst/>
          </a:prstGeom>
          <a:noFill/>
        </p:spPr>
        <p:txBody>
          <a:bodyPr wrap="none" lIns="0" tIns="0" rIns="0" bIns="0" rtlCol="0" anchor="t"/>
          <a:lstStyle/>
          <a:p>
            <a:pPr marL="0" indent="0" algn="l">
              <a:lnSpc>
                <a:spcPts val="3000"/>
              </a:lnSpc>
              <a:buSzPct val="100000"/>
              <a:buNone/>
            </a:pPr>
            <a:r>
              <a:rPr lang="en-US" sz="19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k = 1:</a:t>
            </a: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Extremely sensitive to outliers and noise</a:t>
            </a:r>
            <a:endParaRPr lang="en-US" sz="1900" dirty="0"/>
          </a:p>
        </p:txBody>
      </p:sp>
      <p:sp>
        <p:nvSpPr>
          <p:cNvPr id="8" name="Text 6"/>
          <p:cNvSpPr/>
          <p:nvPr/>
        </p:nvSpPr>
        <p:spPr>
          <a:xfrm>
            <a:off x="966073" y="6208395"/>
            <a:ext cx="6054566" cy="386477"/>
          </a:xfrm>
          <a:prstGeom prst="rect">
            <a:avLst/>
          </a:prstGeom>
          <a:noFill/>
        </p:spPr>
        <p:txBody>
          <a:bodyPr wrap="none" lIns="0" tIns="0" rIns="0" bIns="0" rtlCol="0" anchor="t"/>
          <a:lstStyle/>
          <a:p>
            <a:pPr marL="0" indent="0" algn="l">
              <a:lnSpc>
                <a:spcPts val="3000"/>
              </a:lnSpc>
              <a:buSzPct val="100000"/>
              <a:buNone/>
            </a:pPr>
            <a:r>
              <a:rPr lang="en-US" sz="19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k = 5:</a:t>
            </a: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Optimal balance—selected for final model</a:t>
            </a:r>
            <a:endParaRPr lang="en-US" sz="1900" dirty="0"/>
          </a:p>
        </p:txBody>
      </p:sp>
      <p:sp>
        <p:nvSpPr>
          <p:cNvPr id="9" name="Text 7"/>
          <p:cNvSpPr/>
          <p:nvPr/>
        </p:nvSpPr>
        <p:spPr>
          <a:xfrm>
            <a:off x="966073" y="6679406"/>
            <a:ext cx="6054566" cy="386477"/>
          </a:xfrm>
          <a:prstGeom prst="rect">
            <a:avLst/>
          </a:prstGeom>
          <a:noFill/>
        </p:spPr>
        <p:txBody>
          <a:bodyPr wrap="none" lIns="0" tIns="0" rIns="0" bIns="0" rtlCol="0" anchor="t"/>
          <a:lstStyle/>
          <a:p>
            <a:pPr marL="0" indent="0" algn="l">
              <a:lnSpc>
                <a:spcPts val="3000"/>
              </a:lnSpc>
              <a:buSzPct val="100000"/>
              <a:buNone/>
            </a:pPr>
            <a:r>
              <a:rPr lang="en-US" sz="190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k &gt; 50:</a:t>
            </a:r>
            <a:r>
              <a:rPr lang="en-US" sz="1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Over-smoothing leads to accuracy degradation</a:t>
            </a:r>
            <a:endParaRPr lang="en-US" sz="1900" dirty="0"/>
          </a:p>
        </p:txBody>
      </p:sp>
      <p:sp>
        <p:nvSpPr>
          <p:cNvPr id="14" name="Text 11"/>
          <p:cNvSpPr/>
          <p:nvPr/>
        </p:nvSpPr>
        <p:spPr>
          <a:xfrm>
            <a:off x="11023283" y="6513314"/>
            <a:ext cx="785336" cy="241578"/>
          </a:xfrm>
          <a:prstGeom prst="rect">
            <a:avLst/>
          </a:prstGeom>
          <a:noFill/>
        </p:spPr>
        <p:txBody>
          <a:bodyPr wrap="none" lIns="0" tIns="0" rIns="0" bIns="0" rtlCol="0" anchor="t"/>
          <a:lstStyle/>
          <a:p>
            <a:pPr marL="0" indent="0" algn="l">
              <a:lnSpc>
                <a:spcPts val="1900"/>
              </a:lnSpc>
              <a:buNone/>
            </a:pPr>
            <a:endParaRPr lang="en-US" sz="1900" dirty="0"/>
          </a:p>
        </p:txBody>
      </p:sp>
      <p:sp>
        <p:nvSpPr>
          <p:cNvPr id="21" name="Rectangles 20"/>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5" name="Picture 14" descr="1_0MSjneF0qtYaxLUgsw2Ybw"/>
          <p:cNvPicPr>
            <a:picLocks noChangeAspect="1"/>
          </p:cNvPicPr>
          <p:nvPr/>
        </p:nvPicPr>
        <p:blipFill>
          <a:blip r:embed="rId1"/>
          <a:stretch>
            <a:fillRect/>
          </a:stretch>
        </p:blipFill>
        <p:spPr>
          <a:xfrm>
            <a:off x="8248650" y="3402965"/>
            <a:ext cx="6096000" cy="457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480" y="415528"/>
            <a:ext cx="3501152" cy="377785"/>
          </a:xfrm>
          <a:prstGeom prst="rect">
            <a:avLst/>
          </a:prstGeom>
          <a:noFill/>
        </p:spPr>
        <p:txBody>
          <a:bodyPr wrap="none" lIns="0" tIns="0" rIns="0" bIns="0" rtlCol="0" anchor="t"/>
          <a:lstStyle/>
          <a:p>
            <a:pPr marL="0" indent="0" algn="l">
              <a:lnSpc>
                <a:spcPts val="2950"/>
              </a:lnSpc>
              <a:buNone/>
            </a:pPr>
            <a:r>
              <a:rPr lang="en-US" sz="23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Naive Bayes: Probabilistic Speed</a:t>
            </a:r>
            <a:endParaRPr lang="en-US" sz="2350" dirty="0"/>
          </a:p>
        </p:txBody>
      </p:sp>
      <p:sp>
        <p:nvSpPr>
          <p:cNvPr id="3" name="Text 1"/>
          <p:cNvSpPr/>
          <p:nvPr/>
        </p:nvSpPr>
        <p:spPr>
          <a:xfrm>
            <a:off x="604480" y="1171099"/>
            <a:ext cx="1813560" cy="226576"/>
          </a:xfrm>
          <a:prstGeom prst="rect">
            <a:avLst/>
          </a:prstGeom>
          <a:noFill/>
        </p:spPr>
        <p:txBody>
          <a:bodyPr wrap="none" lIns="0" tIns="0" rIns="0" bIns="0" rtlCol="0" anchor="t"/>
          <a:lstStyle/>
          <a:p>
            <a:pPr marL="0" indent="0" algn="l">
              <a:lnSpc>
                <a:spcPts val="1750"/>
              </a:lnSpc>
              <a:buNone/>
            </a:pPr>
            <a:r>
              <a:rPr lang="en-US" sz="14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Bayesian Inference</a:t>
            </a:r>
            <a:endParaRPr lang="en-US" sz="1400" dirty="0"/>
          </a:p>
        </p:txBody>
      </p:sp>
      <p:sp>
        <p:nvSpPr>
          <p:cNvPr id="4" name="Text 2"/>
          <p:cNvSpPr/>
          <p:nvPr/>
        </p:nvSpPr>
        <p:spPr>
          <a:xfrm>
            <a:off x="604480" y="1548765"/>
            <a:ext cx="5836801" cy="725091"/>
          </a:xfrm>
          <a:prstGeom prst="rect">
            <a:avLst/>
          </a:prstGeom>
          <a:noFill/>
        </p:spPr>
        <p:txBody>
          <a:bodyPr wrap="square" lIns="0" tIns="0" rIns="0" bIns="0" rtlCol="0" anchor="t"/>
          <a:lstStyle/>
          <a:p>
            <a:pPr marL="0" indent="0" algn="l">
              <a:lnSpc>
                <a:spcPts val="1900"/>
              </a:lnSpc>
              <a:buNone/>
            </a:pPr>
            <a:r>
              <a:rPr lang="en-US" altLang="en-US" sz="1600" dirty="0"/>
              <a:t>In my project, Naive Bayes is used as a probabilistic classifier that predicts the instrument based on extracted audio features such as MFCC, Chroma, Spectral Centroid, Bandwidth, Rolloff, and ZCR.</a:t>
            </a:r>
            <a:endParaRPr lang="en-US" altLang="en-US" sz="1600" dirty="0"/>
          </a:p>
        </p:txBody>
      </p:sp>
      <p:pic>
        <p:nvPicPr>
          <p:cNvPr id="26" name="Picture 25"/>
          <p:cNvPicPr>
            <a:picLocks noChangeAspect="1"/>
          </p:cNvPicPr>
          <p:nvPr/>
        </p:nvPicPr>
        <p:blipFill>
          <a:blip r:embed="rId1"/>
          <a:stretch>
            <a:fillRect/>
          </a:stretch>
        </p:blipFill>
        <p:spPr>
          <a:xfrm>
            <a:off x="6673850" y="1170940"/>
            <a:ext cx="7833360" cy="5455920"/>
          </a:xfrm>
          <a:prstGeom prst="rect">
            <a:avLst/>
          </a:prstGeom>
        </p:spPr>
      </p:pic>
      <p:sp>
        <p:nvSpPr>
          <p:cNvPr id="27" name="Rectangles 26"/>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8" name="Picture 27"/>
          <p:cNvPicPr>
            <a:picLocks noChangeAspect="1"/>
          </p:cNvPicPr>
          <p:nvPr/>
        </p:nvPicPr>
        <p:blipFill>
          <a:blip r:embed="rId2"/>
          <a:stretch>
            <a:fillRect/>
          </a:stretch>
        </p:blipFill>
        <p:spPr>
          <a:xfrm>
            <a:off x="158750" y="2578735"/>
            <a:ext cx="6035675" cy="1084580"/>
          </a:xfrm>
          <a:prstGeom prst="rect">
            <a:avLst/>
          </a:prstGeom>
        </p:spPr>
      </p:pic>
      <p:sp>
        <p:nvSpPr>
          <p:cNvPr id="29" name="Text Box 28"/>
          <p:cNvSpPr txBox="1"/>
          <p:nvPr/>
        </p:nvSpPr>
        <p:spPr>
          <a:xfrm>
            <a:off x="159385" y="3854450"/>
            <a:ext cx="5668645" cy="865505"/>
          </a:xfrm>
          <a:prstGeom prst="rect">
            <a:avLst/>
          </a:prstGeom>
          <a:noFill/>
        </p:spPr>
        <p:txBody>
          <a:bodyPr wrap="square" rtlCol="0">
            <a:noAutofit/>
          </a:bodyPr>
          <a:p>
            <a:r>
              <a:rPr lang="en-US" altLang="en-US" sz="1400"/>
              <a:t>- Class = Instrument (Guitar, Flute, Piano, etc.)</a:t>
            </a:r>
            <a:endParaRPr lang="en-US" altLang="en-US" sz="1400"/>
          </a:p>
          <a:p>
            <a:r>
              <a:rPr lang="en-US" altLang="en-US" sz="1400"/>
              <a:t>- Features = 36 extracted audio features</a:t>
            </a:r>
            <a:endParaRPr lang="en-US" altLang="en-US" sz="1400"/>
          </a:p>
          <a:p>
            <a:r>
              <a:rPr lang="en-US" altLang="en-US" sz="1400"/>
              <a:t>The model assumes that all features are independent of each other</a:t>
            </a:r>
            <a:endParaRPr lang="en-US" altLang="en-US" sz="1400"/>
          </a:p>
          <a:p>
            <a:r>
              <a:rPr lang="en-US" altLang="en-US"/>
              <a:t>During training:</a:t>
            </a:r>
            <a:endParaRPr lang="en-US" altLang="en-US"/>
          </a:p>
          <a:p>
            <a:endParaRPr lang="en-US" altLang="en-US"/>
          </a:p>
          <a:p>
            <a:r>
              <a:rPr lang="en-US" altLang="en-US"/>
              <a:t>The model learns the probability distribution of each feature for every instrument.</a:t>
            </a:r>
            <a:endParaRPr lang="en-US" altLang="en-US"/>
          </a:p>
          <a:p>
            <a:endParaRPr lang="en-US" altLang="en-US"/>
          </a:p>
          <a:p>
            <a:r>
              <a:rPr lang="en-US" altLang="en-US">
                <a:sym typeface="+mn-ea"/>
              </a:rPr>
              <a:t>During prediction:</a:t>
            </a:r>
            <a:endParaRPr lang="en-US" altLang="en-US">
              <a:sym typeface="+mn-ea"/>
            </a:endParaRPr>
          </a:p>
          <a:p>
            <a:endParaRPr lang="en-US" altLang="en-US">
              <a:sym typeface="+mn-ea"/>
            </a:endParaRPr>
          </a:p>
          <a:p>
            <a:r>
              <a:rPr lang="en-US" altLang="en-US"/>
              <a:t>For a new audio file, the model computes the probability of that feature vector belonging to each instrument.</a:t>
            </a:r>
            <a:endParaRPr lang="en-US" altLang="en-US"/>
          </a:p>
          <a:p>
            <a:r>
              <a:rPr lang="en-US" altLang="en-US"/>
              <a:t>The instrument with the highest probability is selected.</a:t>
            </a:r>
            <a:endParaRPr lang="en-US" altLang="en-US"/>
          </a:p>
          <a:p>
            <a:endParaRPr lang="en-US" altLang="en-US"/>
          </a:p>
          <a:p>
            <a:endParaRPr lang="en-US" altLang="en-US"/>
          </a:p>
        </p:txBody>
      </p:sp>
      <p:pic>
        <p:nvPicPr>
          <p:cNvPr id="30" name="Picture 29"/>
          <p:cNvPicPr>
            <a:picLocks noChangeAspect="1"/>
          </p:cNvPicPr>
          <p:nvPr/>
        </p:nvPicPr>
        <p:blipFill>
          <a:blip r:embed="rId3"/>
          <a:stretch>
            <a:fillRect/>
          </a:stretch>
        </p:blipFill>
        <p:spPr>
          <a:xfrm>
            <a:off x="302895" y="7436485"/>
            <a:ext cx="6638925" cy="476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31255" y="618887"/>
            <a:ext cx="6226135" cy="465534"/>
          </a:xfrm>
          <a:prstGeom prst="rect">
            <a:avLst/>
          </a:prstGeom>
          <a:noFill/>
        </p:spPr>
        <p:txBody>
          <a:bodyPr wrap="none" lIns="0" tIns="0" rIns="0" bIns="0" rtlCol="0" anchor="t"/>
          <a:lstStyle/>
          <a:p>
            <a:pPr marL="0" indent="0" algn="l">
              <a:lnSpc>
                <a:spcPts val="3650"/>
              </a:lnSpc>
              <a:buNone/>
            </a:pPr>
            <a:r>
              <a:rPr lang="en-US" sz="29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Support Vector Machines: Maximizing Margins</a:t>
            </a:r>
            <a:endParaRPr lang="en-US" sz="2900" dirty="0"/>
          </a:p>
        </p:txBody>
      </p:sp>
      <p:sp>
        <p:nvSpPr>
          <p:cNvPr id="4" name="Text 1"/>
          <p:cNvSpPr/>
          <p:nvPr/>
        </p:nvSpPr>
        <p:spPr>
          <a:xfrm>
            <a:off x="6231255" y="1158835"/>
            <a:ext cx="3235285" cy="279321"/>
          </a:xfrm>
          <a:prstGeom prst="rect">
            <a:avLst/>
          </a:prstGeom>
          <a:noFill/>
        </p:spPr>
        <p:txBody>
          <a:bodyPr wrap="none" lIns="0" tIns="0" rIns="0" bIns="0" rtlCol="0" anchor="t"/>
          <a:lstStyle/>
          <a:p>
            <a:pPr marL="0" indent="0" algn="l">
              <a:lnSpc>
                <a:spcPts val="2150"/>
              </a:lnSpc>
              <a:buNone/>
            </a:pPr>
            <a:r>
              <a:rPr lang="en-US" sz="17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Finding Optimal Separating Hyperplanes</a:t>
            </a:r>
            <a:endParaRPr lang="en-US" sz="1750" dirty="0"/>
          </a:p>
        </p:txBody>
      </p:sp>
      <p:sp>
        <p:nvSpPr>
          <p:cNvPr id="5" name="Text 2"/>
          <p:cNvSpPr/>
          <p:nvPr/>
        </p:nvSpPr>
        <p:spPr>
          <a:xfrm>
            <a:off x="6231255" y="1717477"/>
            <a:ext cx="7654290" cy="893683"/>
          </a:xfrm>
          <a:prstGeom prst="rect">
            <a:avLst/>
          </a:prstGeom>
          <a:noFill/>
        </p:spPr>
        <p:txBody>
          <a:bodyPr wrap="square" lIns="0" tIns="0" rIns="0" bIns="0" rtlCol="0" anchor="t"/>
          <a:lstStyle/>
          <a:p>
            <a:pPr marL="0" indent="0" algn="l">
              <a:lnSpc>
                <a:spcPts val="23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SVMs construct decision boundaries that maximize the margin between classes, making them robust to outliers and well-suited for high-dimensional feature spaces. The kernel trick allows SVMs to capture non-linear relationships without explicitly computing transformed features.</a:t>
            </a:r>
            <a:endParaRPr lang="en-US" sz="1450" dirty="0"/>
          </a:p>
        </p:txBody>
      </p:sp>
      <p:pic>
        <p:nvPicPr>
          <p:cNvPr id="6" name="Image 1" descr="preencoded.png"/>
          <p:cNvPicPr>
            <a:picLocks noChangeAspect="1"/>
          </p:cNvPicPr>
          <p:nvPr/>
        </p:nvPicPr>
        <p:blipFill>
          <a:blip r:embed="rId1"/>
          <a:stretch>
            <a:fillRect/>
          </a:stretch>
        </p:blipFill>
        <p:spPr>
          <a:xfrm>
            <a:off x="6231255" y="2820591"/>
            <a:ext cx="931069" cy="1117283"/>
          </a:xfrm>
          <a:prstGeom prst="rect">
            <a:avLst/>
          </a:prstGeom>
        </p:spPr>
      </p:pic>
      <p:sp>
        <p:nvSpPr>
          <p:cNvPr id="7" name="Text 3"/>
          <p:cNvSpPr/>
          <p:nvPr/>
        </p:nvSpPr>
        <p:spPr>
          <a:xfrm>
            <a:off x="7348538" y="3006804"/>
            <a:ext cx="1862257" cy="232767"/>
          </a:xfrm>
          <a:prstGeom prst="rect">
            <a:avLst/>
          </a:prstGeom>
          <a:noFill/>
        </p:spPr>
        <p:txBody>
          <a:bodyPr wrap="none" lIns="0" tIns="0" rIns="0" bIns="0" rtlCol="0" anchor="t"/>
          <a:lstStyle/>
          <a:p>
            <a:pPr marL="0" indent="0" algn="l">
              <a:lnSpc>
                <a:spcPts val="18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Polynomial Kernel</a:t>
            </a:r>
            <a:endParaRPr lang="en-US" sz="1450" dirty="0"/>
          </a:p>
        </p:txBody>
      </p:sp>
      <p:sp>
        <p:nvSpPr>
          <p:cNvPr id="8" name="Text 4"/>
          <p:cNvSpPr/>
          <p:nvPr/>
        </p:nvSpPr>
        <p:spPr>
          <a:xfrm>
            <a:off x="7348538" y="3351252"/>
            <a:ext cx="6537008" cy="297894"/>
          </a:xfrm>
          <a:prstGeom prst="rect">
            <a:avLst/>
          </a:prstGeom>
          <a:noFill/>
        </p:spPr>
        <p:txBody>
          <a:bodyPr wrap="none" lIns="0" tIns="0" rIns="0" bIns="0" rtlCol="0" anchor="t"/>
          <a:lstStyle/>
          <a:p>
            <a:pPr marL="0" indent="0" algn="l">
              <a:lnSpc>
                <a:spcPts val="23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Tested degrees 3–10 to capture polynomial relationships in frequency distributions</a:t>
            </a:r>
            <a:endParaRPr lang="en-US" sz="1450" dirty="0"/>
          </a:p>
        </p:txBody>
      </p:sp>
      <p:pic>
        <p:nvPicPr>
          <p:cNvPr id="9" name="Image 2" descr="preencoded.png"/>
          <p:cNvPicPr>
            <a:picLocks noChangeAspect="1"/>
          </p:cNvPicPr>
          <p:nvPr/>
        </p:nvPicPr>
        <p:blipFill>
          <a:blip r:embed="rId2"/>
          <a:stretch>
            <a:fillRect/>
          </a:stretch>
        </p:blipFill>
        <p:spPr>
          <a:xfrm>
            <a:off x="6231255" y="3937873"/>
            <a:ext cx="931069" cy="1117283"/>
          </a:xfrm>
          <a:prstGeom prst="rect">
            <a:avLst/>
          </a:prstGeom>
        </p:spPr>
      </p:pic>
      <p:sp>
        <p:nvSpPr>
          <p:cNvPr id="10" name="Text 5"/>
          <p:cNvSpPr/>
          <p:nvPr/>
        </p:nvSpPr>
        <p:spPr>
          <a:xfrm>
            <a:off x="7348538" y="4124087"/>
            <a:ext cx="1862257" cy="232767"/>
          </a:xfrm>
          <a:prstGeom prst="rect">
            <a:avLst/>
          </a:prstGeom>
          <a:noFill/>
        </p:spPr>
        <p:txBody>
          <a:bodyPr wrap="none" lIns="0" tIns="0" rIns="0" bIns="0" rtlCol="0" anchor="t"/>
          <a:lstStyle/>
          <a:p>
            <a:pPr marL="0" indent="0" algn="l">
              <a:lnSpc>
                <a:spcPts val="18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RBF Kernel</a:t>
            </a:r>
            <a:endParaRPr lang="en-US" sz="1450" dirty="0"/>
          </a:p>
        </p:txBody>
      </p:sp>
      <p:sp>
        <p:nvSpPr>
          <p:cNvPr id="11" name="Text 6"/>
          <p:cNvSpPr/>
          <p:nvPr/>
        </p:nvSpPr>
        <p:spPr>
          <a:xfrm>
            <a:off x="7348538" y="4468535"/>
            <a:ext cx="6537008" cy="297894"/>
          </a:xfrm>
          <a:prstGeom prst="rect">
            <a:avLst/>
          </a:prstGeom>
          <a:noFill/>
        </p:spPr>
        <p:txBody>
          <a:bodyPr wrap="none" lIns="0" tIns="0" rIns="0" bIns="0" rtlCol="0" anchor="t"/>
          <a:lstStyle/>
          <a:p>
            <a:pPr marL="0" indent="0" algn="l">
              <a:lnSpc>
                <a:spcPts val="23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Explored gamma values 0.1–1.0 for radial basis function flexibility</a:t>
            </a:r>
            <a:endParaRPr lang="en-US" sz="1450" dirty="0"/>
          </a:p>
        </p:txBody>
      </p:sp>
      <p:pic>
        <p:nvPicPr>
          <p:cNvPr id="12" name="Image 3" descr="preencoded.png"/>
          <p:cNvPicPr>
            <a:picLocks noChangeAspect="1"/>
          </p:cNvPicPr>
          <p:nvPr/>
        </p:nvPicPr>
        <p:blipFill>
          <a:blip r:embed="rId3"/>
          <a:stretch>
            <a:fillRect/>
          </a:stretch>
        </p:blipFill>
        <p:spPr>
          <a:xfrm>
            <a:off x="6231255" y="5055156"/>
            <a:ext cx="931069" cy="1117283"/>
          </a:xfrm>
          <a:prstGeom prst="rect">
            <a:avLst/>
          </a:prstGeom>
        </p:spPr>
      </p:pic>
      <p:sp>
        <p:nvSpPr>
          <p:cNvPr id="13" name="Text 7"/>
          <p:cNvSpPr/>
          <p:nvPr/>
        </p:nvSpPr>
        <p:spPr>
          <a:xfrm>
            <a:off x="7348538" y="5241369"/>
            <a:ext cx="1862257" cy="232767"/>
          </a:xfrm>
          <a:prstGeom prst="rect">
            <a:avLst/>
          </a:prstGeom>
          <a:noFill/>
        </p:spPr>
        <p:txBody>
          <a:bodyPr wrap="none" lIns="0" tIns="0" rIns="0" bIns="0" rtlCol="0" anchor="t"/>
          <a:lstStyle/>
          <a:p>
            <a:pPr marL="0" indent="0" algn="l">
              <a:lnSpc>
                <a:spcPts val="18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Parameter Selection</a:t>
            </a:r>
            <a:endParaRPr lang="en-US" sz="1450" dirty="0"/>
          </a:p>
        </p:txBody>
      </p:sp>
      <p:sp>
        <p:nvSpPr>
          <p:cNvPr id="14" name="Text 8"/>
          <p:cNvSpPr/>
          <p:nvPr/>
        </p:nvSpPr>
        <p:spPr>
          <a:xfrm>
            <a:off x="7348538" y="5585817"/>
            <a:ext cx="6537008" cy="297894"/>
          </a:xfrm>
          <a:prstGeom prst="rect">
            <a:avLst/>
          </a:prstGeom>
          <a:noFill/>
        </p:spPr>
        <p:txBody>
          <a:bodyPr wrap="none" lIns="0" tIns="0" rIns="0" bIns="0" rtlCol="0" anchor="t"/>
          <a:lstStyle/>
          <a:p>
            <a:pPr marL="0" indent="0" algn="l">
              <a:lnSpc>
                <a:spcPts val="2300"/>
              </a:lnSpc>
              <a:buNone/>
            </a:pP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Grid search identified optimal kernel and hyperparameters through cross-validation</a:t>
            </a:r>
            <a:endParaRPr lang="en-US" sz="1450" dirty="0"/>
          </a:p>
        </p:txBody>
      </p:sp>
      <p:sp>
        <p:nvSpPr>
          <p:cNvPr id="15" name="Text 9"/>
          <p:cNvSpPr/>
          <p:nvPr/>
        </p:nvSpPr>
        <p:spPr>
          <a:xfrm>
            <a:off x="6231255" y="6549390"/>
            <a:ext cx="3599974" cy="893683"/>
          </a:xfrm>
          <a:prstGeom prst="rect">
            <a:avLst/>
          </a:prstGeom>
          <a:noFill/>
        </p:spPr>
        <p:txBody>
          <a:bodyPr wrap="square" lIns="0" tIns="0" rIns="0" bIns="0" rtlCol="0" anchor="t"/>
          <a:lstStyle/>
          <a:p>
            <a:pPr marL="0" indent="0" algn="l">
              <a:lnSpc>
                <a:spcPts val="2300"/>
              </a:lnSpc>
              <a:buNone/>
            </a:pPr>
            <a:r>
              <a:rPr lang="en-US" sz="145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Polynomial Kernel Performance:</a:t>
            </a: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Degree 5 showed best balance between complexity and generalization. Higher degrees risked overfitting.</a:t>
            </a:r>
            <a:endParaRPr lang="en-US" sz="1450" dirty="0"/>
          </a:p>
        </p:txBody>
      </p:sp>
      <p:sp>
        <p:nvSpPr>
          <p:cNvPr id="16" name="Text 10"/>
          <p:cNvSpPr/>
          <p:nvPr/>
        </p:nvSpPr>
        <p:spPr>
          <a:xfrm>
            <a:off x="10293191" y="6549390"/>
            <a:ext cx="3599974" cy="893683"/>
          </a:xfrm>
          <a:prstGeom prst="rect">
            <a:avLst/>
          </a:prstGeom>
          <a:noFill/>
        </p:spPr>
        <p:txBody>
          <a:bodyPr wrap="square" lIns="0" tIns="0" rIns="0" bIns="0" rtlCol="0" anchor="t"/>
          <a:lstStyle/>
          <a:p>
            <a:pPr marL="0" indent="0" algn="l">
              <a:lnSpc>
                <a:spcPts val="2300"/>
              </a:lnSpc>
              <a:buNone/>
            </a:pPr>
            <a:r>
              <a:rPr lang="en-US" sz="1450" b="1"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RBF Kernel Performance:</a:t>
            </a:r>
            <a:r>
              <a:rPr lang="en-US" sz="14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 Gamma = 0.3 provided optimal locality, creating appropriately sized decision regions in feature space.</a:t>
            </a:r>
            <a:endParaRPr lang="en-US" sz="1450" dirty="0"/>
          </a:p>
        </p:txBody>
      </p:sp>
      <p:pic>
        <p:nvPicPr>
          <p:cNvPr id="17" name="Picture 16" descr="1572549199626"/>
          <p:cNvPicPr>
            <a:picLocks noChangeAspect="1"/>
          </p:cNvPicPr>
          <p:nvPr/>
        </p:nvPicPr>
        <p:blipFill>
          <a:blip r:embed="rId4"/>
          <a:stretch>
            <a:fillRect/>
          </a:stretch>
        </p:blipFill>
        <p:spPr>
          <a:xfrm>
            <a:off x="255905" y="417195"/>
            <a:ext cx="5788660" cy="7134225"/>
          </a:xfrm>
          <a:prstGeom prst="rect">
            <a:avLst/>
          </a:prstGeom>
        </p:spPr>
      </p:pic>
      <p:sp>
        <p:nvSpPr>
          <p:cNvPr id="21" name="Rectangles 20"/>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124" y="418743"/>
            <a:ext cx="4038600" cy="380643"/>
          </a:xfrm>
          <a:prstGeom prst="rect">
            <a:avLst/>
          </a:prstGeom>
          <a:noFill/>
        </p:spPr>
        <p:txBody>
          <a:bodyPr wrap="none" lIns="0" tIns="0" rIns="0" bIns="0" rtlCol="0" anchor="t"/>
          <a:lstStyle/>
          <a:p>
            <a:pPr marL="0" indent="0" algn="l">
              <a:lnSpc>
                <a:spcPts val="2950"/>
              </a:lnSpc>
              <a:buNone/>
            </a:pPr>
            <a:r>
              <a:rPr lang="en-US" sz="23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Random Forest: Ensemble Excellence</a:t>
            </a:r>
            <a:endParaRPr lang="en-US" sz="2350" dirty="0"/>
          </a:p>
        </p:txBody>
      </p:sp>
      <p:sp>
        <p:nvSpPr>
          <p:cNvPr id="3" name="Text 1"/>
          <p:cNvSpPr/>
          <p:nvPr/>
        </p:nvSpPr>
        <p:spPr>
          <a:xfrm>
            <a:off x="609124" y="860227"/>
            <a:ext cx="1827609" cy="228362"/>
          </a:xfrm>
          <a:prstGeom prst="rect">
            <a:avLst/>
          </a:prstGeom>
          <a:noFill/>
        </p:spPr>
        <p:txBody>
          <a:bodyPr wrap="none" lIns="0" tIns="0" rIns="0" bIns="0" rtlCol="0" anchor="t"/>
          <a:lstStyle/>
          <a:p>
            <a:pPr marL="0" indent="0" algn="l">
              <a:lnSpc>
                <a:spcPts val="1750"/>
              </a:lnSpc>
              <a:buNone/>
            </a:pPr>
            <a:r>
              <a:rPr lang="en-US" sz="140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Wisdom of the Crowd</a:t>
            </a:r>
            <a:endParaRPr lang="en-US" sz="1400" dirty="0"/>
          </a:p>
        </p:txBody>
      </p:sp>
      <p:sp>
        <p:nvSpPr>
          <p:cNvPr id="4" name="Text 2"/>
          <p:cNvSpPr/>
          <p:nvPr/>
        </p:nvSpPr>
        <p:spPr>
          <a:xfrm>
            <a:off x="608965" y="1316990"/>
            <a:ext cx="6706235" cy="6383020"/>
          </a:xfrm>
          <a:prstGeom prst="rect">
            <a:avLst/>
          </a:prstGeom>
          <a:noFill/>
        </p:spPr>
        <p:txBody>
          <a:bodyPr wrap="square" lIns="0" tIns="0" rIns="0" bIns="0" rtlCol="0" anchor="t"/>
          <a:lstStyle/>
          <a:p>
            <a:pPr marL="0" indent="0" algn="l">
              <a:lnSpc>
                <a:spcPts val="1900"/>
              </a:lnSpc>
              <a:buNone/>
            </a:pPr>
            <a:endParaRPr lang="en-US" altLang="en-US" dirty="0"/>
          </a:p>
          <a:p>
            <a:pPr marL="0" indent="0" algn="l">
              <a:lnSpc>
                <a:spcPts val="1900"/>
              </a:lnSpc>
              <a:buNone/>
            </a:pPr>
            <a:endParaRPr lang="en-US" altLang="en-US" dirty="0"/>
          </a:p>
          <a:p>
            <a:pPr marL="0" indent="0" algn="l">
              <a:lnSpc>
                <a:spcPts val="1900"/>
              </a:lnSpc>
              <a:buNone/>
            </a:pPr>
            <a:endParaRPr lang="en-US" altLang="en-US" dirty="0"/>
          </a:p>
          <a:p>
            <a:pPr marL="0" indent="0" algn="l">
              <a:lnSpc>
                <a:spcPts val="1900"/>
              </a:lnSpc>
              <a:buNone/>
            </a:pPr>
            <a:r>
              <a:rPr lang="en-US" altLang="en-US" dirty="0"/>
              <a:t>In my project, Random Forest works by combining the decisions of many decision trees to accurately identify musical instruments from extracted audio features.</a:t>
            </a:r>
            <a:endParaRPr lang="en-US" altLang="en-US" dirty="0"/>
          </a:p>
          <a:p>
            <a:pPr marL="0" indent="0" algn="l">
              <a:lnSpc>
                <a:spcPts val="1900"/>
              </a:lnSpc>
              <a:buNone/>
            </a:pPr>
            <a:endParaRPr lang="en-US" altLang="en-US" dirty="0"/>
          </a:p>
          <a:p>
            <a:pPr marL="0" indent="0" algn="l">
              <a:lnSpc>
                <a:spcPts val="1900"/>
              </a:lnSpc>
              <a:buNone/>
            </a:pPr>
            <a:r>
              <a:rPr lang="en-US" altLang="en-US" dirty="0"/>
              <a:t> Each audio file is first converted into numerical features such as MFCC, chroma, spectral centroid, bandwidth, roll-off, and zero-crossing rate, which represent the timbre and frequency characteristics of the sound. </a:t>
            </a:r>
            <a:endParaRPr lang="en-US" altLang="en-US" dirty="0"/>
          </a:p>
          <a:p>
            <a:pPr marL="0" indent="0" algn="l">
              <a:lnSpc>
                <a:spcPts val="1900"/>
              </a:lnSpc>
              <a:buNone/>
            </a:pPr>
            <a:endParaRPr lang="en-US" altLang="en-US" dirty="0"/>
          </a:p>
          <a:p>
            <a:pPr marL="0" indent="0" algn="l">
              <a:lnSpc>
                <a:spcPts val="1900"/>
              </a:lnSpc>
              <a:buNone/>
            </a:pPr>
            <a:r>
              <a:rPr lang="en-US" altLang="en-US" dirty="0"/>
              <a:t>During training, Random Forest creates multiple decision trees, where each tree learns different patterns from randomly selected subsets of the data and features. For example, one tree may focus more on MFCC patterns to distinguish flute sounds, while another may rely on spectral features to identify drums or guitars. </a:t>
            </a:r>
            <a:endParaRPr lang="en-US" altLang="en-US" dirty="0"/>
          </a:p>
          <a:p>
            <a:pPr marL="0" indent="0" algn="l">
              <a:lnSpc>
                <a:spcPts val="1900"/>
              </a:lnSpc>
              <a:buNone/>
            </a:pPr>
            <a:endParaRPr lang="en-US" altLang="en-US" dirty="0"/>
          </a:p>
          <a:p>
            <a:pPr marL="0" indent="0" algn="l">
              <a:lnSpc>
                <a:spcPts val="1900"/>
              </a:lnSpc>
              <a:buNone/>
            </a:pPr>
            <a:r>
              <a:rPr lang="en-US" altLang="en-US" dirty="0"/>
              <a:t>When a new audio sample is given, all trees independently predict the instrument, and the final output is decided by majority voting. This ensemble approach reduces overfitting, handles non-linear relationships in audio data, and improves robustness, which is why Random Forest achieved the highest accuracy in my project.</a:t>
            </a:r>
            <a:endParaRPr lang="en-US" altLang="en-US" dirty="0"/>
          </a:p>
        </p:txBody>
      </p:sp>
      <p:pic>
        <p:nvPicPr>
          <p:cNvPr id="27" name="Picture 26" descr="Random Forest 03"/>
          <p:cNvPicPr>
            <a:picLocks noChangeAspect="1"/>
          </p:cNvPicPr>
          <p:nvPr/>
        </p:nvPicPr>
        <p:blipFill>
          <a:blip r:embed="rId1"/>
          <a:stretch>
            <a:fillRect/>
          </a:stretch>
        </p:blipFill>
        <p:spPr>
          <a:xfrm>
            <a:off x="7546975" y="1592580"/>
            <a:ext cx="6632575" cy="5138420"/>
          </a:xfrm>
          <a:prstGeom prst="rect">
            <a:avLst/>
          </a:prstGeom>
        </p:spPr>
      </p:pic>
      <p:sp>
        <p:nvSpPr>
          <p:cNvPr id="28" name="Rectangles 27"/>
          <p:cNvSpPr/>
          <p:nvPr/>
        </p:nvSpPr>
        <p:spPr>
          <a:xfrm>
            <a:off x="12894310" y="7754620"/>
            <a:ext cx="1736090" cy="474980"/>
          </a:xfrm>
          <a:prstGeom prst="rect">
            <a:avLst/>
          </a:prstGeom>
          <a:solidFill>
            <a:srgbClr val="F6F6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0185" y="381595"/>
            <a:ext cx="3268147" cy="331351"/>
          </a:xfrm>
          <a:prstGeom prst="rect">
            <a:avLst/>
          </a:prstGeom>
          <a:noFill/>
        </p:spPr>
        <p:txBody>
          <a:bodyPr wrap="none" lIns="0" tIns="0" rIns="0" bIns="0" rtlCol="0" anchor="t"/>
          <a:lstStyle/>
          <a:p>
            <a:pPr marL="0" indent="0" algn="l">
              <a:lnSpc>
                <a:spcPts val="2600"/>
              </a:lnSpc>
              <a:buNone/>
            </a:pPr>
            <a:r>
              <a:rPr lang="en-US" sz="2050" dirty="0">
                <a:solidFill>
                  <a:srgbClr val="383838"/>
                </a:solidFill>
                <a:latin typeface="Patrick Hand" panose="00000500000000000000" pitchFamily="34" charset="0"/>
                <a:ea typeface="Patrick Hand" panose="00000500000000000000" pitchFamily="34" charset="-122"/>
                <a:cs typeface="Patrick Hand" panose="00000500000000000000" pitchFamily="34" charset="-120"/>
              </a:rPr>
              <a:t>Comprehensive Model Comparison</a:t>
            </a:r>
            <a:endParaRPr lang="en-US" sz="2050" dirty="0"/>
          </a:p>
        </p:txBody>
      </p:sp>
      <p:pic>
        <p:nvPicPr>
          <p:cNvPr id="36" name="Picture 35" descr="download (1)"/>
          <p:cNvPicPr>
            <a:picLocks noChangeAspect="1"/>
          </p:cNvPicPr>
          <p:nvPr/>
        </p:nvPicPr>
        <p:blipFill>
          <a:blip r:embed="rId1"/>
          <a:stretch>
            <a:fillRect/>
          </a:stretch>
        </p:blipFill>
        <p:spPr>
          <a:xfrm>
            <a:off x="0" y="1049020"/>
            <a:ext cx="14631035" cy="707009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2.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3.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4.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5.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6.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7.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8.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9.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10.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11.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12.xml><?xml version="1.0" encoding="utf-8"?>
<p:tagLst xmlns:p="http://schemas.openxmlformats.org/presentationml/2006/main">
  <p:tag name="KSO_WM_DIAGRAM_VIRTUALLY_FRAME" val="{&quot;height&quot;:471.81559055118106,&quot;left&quot;:477.79685039370077,&quot;top&quot;:95.39062992125983,&quot;width&quot;:628.406220472441}"/>
</p:tagLst>
</file>

<file path=ppt/tags/tag13.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14.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15.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16.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17.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18.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19.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0.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1.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2.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3.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4.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5.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6.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7.xml><?xml version="1.0" encoding="utf-8"?>
<p:tagLst xmlns:p="http://schemas.openxmlformats.org/presentationml/2006/main">
  <p:tag name="KSO_WM_DIAGRAM_VIRTUALLY_FRAME" val="{&quot;height&quot;:402.4969291338582,&quot;left&quot;:47.37188976377953,&quot;top&quot;:131.1281102362205,&quot;width&quot;:625.256220472441}"/>
</p:tagLst>
</file>

<file path=ppt/tags/tag28.xml><?xml version="1.0" encoding="utf-8"?>
<p:tagLst xmlns:p="http://schemas.openxmlformats.org/presentationml/2006/main">
  <p:tag name="KSO_WM_DIAGRAM_VIRTUALLY_FRAME" val="{&quot;height&quot;:402.4969291338582,&quot;left&quot;:47.37188976377953,&quot;top&quot;:131.1281102362205,&quot;width&quot;:625.25622047244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11774</Words>
  <Application>WPS Presentation</Application>
  <PresentationFormat>On-screen Show (16:9)</PresentationFormat>
  <Paragraphs>315</Paragraphs>
  <Slides>17</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SimSun</vt:lpstr>
      <vt:lpstr>Wingdings</vt:lpstr>
      <vt:lpstr>Patrick Hand</vt:lpstr>
      <vt:lpstr>Patrick Hand</vt:lpstr>
      <vt:lpstr>Patrick Hand</vt:lpstr>
      <vt:lpstr>Patrick Hand Light</vt:lpstr>
      <vt:lpstr>Segoe Print</vt:lpstr>
      <vt:lpstr>Patrick Hand Light</vt:lpstr>
      <vt:lpstr>Patrick Hand Light</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Manav MANDALIA</cp:lastModifiedBy>
  <cp:revision>3</cp:revision>
  <dcterms:created xsi:type="dcterms:W3CDTF">2025-12-15T18:50:00Z</dcterms:created>
  <dcterms:modified xsi:type="dcterms:W3CDTF">2025-12-15T21:13:50Z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A223EB79EF5749FDAD6F0579BBAECCF0_12</vt:lpwstr>
  </property>
  <property fmtid="{D5CDD505-2E9C-101B-9397-08002B2CF9AE}" pid="3" name="KSOProductBuildVer">
    <vt:lpwstr>1033-12.2.0.23155</vt:lpwstr>
  </property>
</Properties>
</file>